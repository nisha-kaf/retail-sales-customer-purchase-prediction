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6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388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five roles. Say this is a complete end-to-end analytics and machine learning project on a real retail transaction dataset.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problem plainly: the business wants to know how it is performing and which customers deserve retention and marketing attention first.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objectives, then point to the four headline numbers. Every number comes from the notebooks, not from estimates.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 an operational dataset, not self-collected. Be honest that the file does not include a formal citation, so we describe only what we can verify from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columns out loud. Highlight that Customer ID is missing for 243,007 rows, which matters a lot for customer-level prediction. Numbers in the stat cards are from the raw merged data before cleaning.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cleaning is documented and auditable. Valid completed sales are 776,624 rows, which is 72.8% of the merged data. A single row can trigger more than one flag, so the flag counts do not add up to the rows removed.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12 business questions answered in Notebook 2. Point at the seasonal peak on the left chart and the UK dominance on the right chart.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every chart. Pick two or three (order value is right-skewed, sales concentrate on weekdays and daytime hours, top customers contribute very large totals) and say the full-size versions with interpretations are in Notebook 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technical slide. Explain that features are built only from the earlier period and the label only from the later period, so the model never sees the future. Customers who did not return in the target period count as 0 spend.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baseline accuracy is misleading. For a retention program a false negative (missing a future high-value customer) is the costly error, so recall and F1 matter. Feature importance shows predictive usefulness, not cause and effect.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Finding, Interpretation, Recommendation structure from the report. Each recommendation is tied to a number we computed.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short summary, be upfront about limitations, then switch to the live notebook demo. Every team member should be ready to answer questions about any stage of the pipeline.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40080" y="1371600"/>
            <a:ext cx="1463040" cy="64008"/>
          </a:xfrm>
          <a:prstGeom prst="rect">
            <a:avLst/>
          </a:prstGeom>
          <a:solidFill>
            <a:srgbClr val="F96167"/>
          </a:solidFill>
          <a:ln w="12700">
            <a:solidFill>
              <a:srgbClr val="F96167"/>
            </a:solidFill>
            <a:prstDash val="solid"/>
          </a:ln>
        </p:spPr>
      </p:sp>
      <p:sp>
        <p:nvSpPr>
          <p:cNvPr id="3" name="Text 1"/>
          <p:cNvSpPr txBox="1"/>
          <p:nvPr/>
        </p:nvSpPr>
        <p:spPr>
          <a:xfrm>
            <a:off x="640080" y="1554480"/>
            <a:ext cx="6400800" cy="1828800"/>
          </a:xfrm>
          <a:prstGeom prst="rect">
            <a:avLst/>
          </a:prstGeom>
          <a:noFill/>
          <a:ln/>
        </p:spPr>
        <p:txBody>
          <a:bodyPr wrap="square" rtlCol="0" anchor="t"/>
          <a:lstStyle/>
          <a:p>
            <a:pPr marL="0" indent="0">
              <a:buNone/>
            </a:pPr>
            <a:r>
              <a:rPr lang="en-US" sz="3800" b="1" dirty="0">
                <a:solidFill>
                  <a:srgbClr val="FFFFFF"/>
                </a:solidFill>
              </a:rPr>
              <a:t>Retail Sales &amp; Customer Purchase Prediction</a:t>
            </a:r>
            <a:endParaRPr lang="en-US" sz="3800" dirty="0"/>
          </a:p>
        </p:txBody>
      </p:sp>
      <p:sp>
        <p:nvSpPr>
          <p:cNvPr id="4" name="Text 2"/>
          <p:cNvSpPr txBox="1"/>
          <p:nvPr/>
        </p:nvSpPr>
        <p:spPr>
          <a:xfrm>
            <a:off x="640080" y="3474720"/>
            <a:ext cx="6400800" cy="457200"/>
          </a:xfrm>
          <a:prstGeom prst="rect">
            <a:avLst/>
          </a:prstGeom>
          <a:noFill/>
          <a:ln/>
        </p:spPr>
        <p:txBody>
          <a:bodyPr wrap="square" rtlCol="0" anchor="ctr"/>
          <a:lstStyle/>
          <a:p>
            <a:pPr marL="0" indent="0">
              <a:buNone/>
            </a:pPr>
            <a:r>
              <a:rPr lang="en-US" sz="1800" dirty="0">
                <a:solidFill>
                  <a:srgbClr val="CADCFC"/>
                </a:solidFill>
              </a:rPr>
              <a:t>Group </a:t>
            </a:r>
            <a:r>
              <a:rPr lang="en-US" sz="1800">
                <a:solidFill>
                  <a:srgbClr val="CADCFC"/>
                </a:solidFill>
              </a:rPr>
              <a:t>A </a:t>
            </a:r>
            <a:r>
              <a:rPr lang="en-US" sz="1800" smtClean="0">
                <a:solidFill>
                  <a:srgbClr val="CADCFC"/>
                </a:solidFill>
              </a:rPr>
              <a:t>·Internship </a:t>
            </a:r>
            <a:r>
              <a:rPr lang="en-US" sz="1800" dirty="0">
                <a:solidFill>
                  <a:srgbClr val="CADCFC"/>
                </a:solidFill>
              </a:rPr>
              <a:t>Project</a:t>
            </a:r>
            <a:endParaRPr lang="en-US" sz="1800" dirty="0"/>
          </a:p>
        </p:txBody>
      </p:sp>
      <p:sp>
        <p:nvSpPr>
          <p:cNvPr id="5" name="Shape 3"/>
          <p:cNvSpPr/>
          <p:nvPr/>
        </p:nvSpPr>
        <p:spPr>
          <a:xfrm>
            <a:off x="7406640" y="1554480"/>
            <a:ext cx="4297680" cy="2377440"/>
          </a:xfrm>
          <a:prstGeom prst="roundRect">
            <a:avLst>
              <a:gd name="adj" fmla="val 4615"/>
            </a:avLst>
          </a:prstGeom>
          <a:solidFill>
            <a:srgbClr val="FFFFFF"/>
          </a:solidFill>
          <a:ln w="12700">
            <a:solidFill>
              <a:srgbClr val="D5DCEA"/>
            </a:solidFill>
            <a:prstDash val="solid"/>
          </a:ln>
        </p:spPr>
      </p:sp>
      <p:pic>
        <p:nvPicPr>
          <p:cNvPr id="6" name="Image 0" descr="/home/claude/project/outputs/charts/01_monthly_revenue_trend.png"/>
          <p:cNvPicPr>
            <a:picLocks noChangeAspect="1"/>
          </p:cNvPicPr>
          <p:nvPr/>
        </p:nvPicPr>
        <p:blipFill>
          <a:blip r:embed="rId3"/>
          <a:stretch>
            <a:fillRect/>
          </a:stretch>
        </p:blipFill>
        <p:spPr>
          <a:xfrm>
            <a:off x="7543800" y="1828800"/>
            <a:ext cx="4023360" cy="1828800"/>
          </a:xfrm>
          <a:prstGeom prst="rect">
            <a:avLst/>
          </a:prstGeom>
        </p:spPr>
      </p:pic>
      <p:sp>
        <p:nvSpPr>
          <p:cNvPr id="7" name="Shape 4"/>
          <p:cNvSpPr/>
          <p:nvPr/>
        </p:nvSpPr>
        <p:spPr>
          <a:xfrm>
            <a:off x="640080" y="4846320"/>
            <a:ext cx="2103120" cy="1005840"/>
          </a:xfrm>
          <a:prstGeom prst="roundRect">
            <a:avLst>
              <a:gd name="adj" fmla="val 9091"/>
            </a:avLst>
          </a:prstGeom>
          <a:solidFill>
            <a:srgbClr val="2C3A7A"/>
          </a:solidFill>
          <a:ln w="12700">
            <a:solidFill>
              <a:srgbClr val="44559A"/>
            </a:solidFill>
            <a:prstDash val="solid"/>
          </a:ln>
        </p:spPr>
      </p:sp>
      <p:sp>
        <p:nvSpPr>
          <p:cNvPr id="8" name="Text 5"/>
          <p:cNvSpPr txBox="1"/>
          <p:nvPr/>
        </p:nvSpPr>
        <p:spPr>
          <a:xfrm>
            <a:off x="731520" y="4892040"/>
            <a:ext cx="1920240" cy="914400"/>
          </a:xfrm>
          <a:prstGeom prst="rect">
            <a:avLst/>
          </a:prstGeom>
          <a:noFill/>
          <a:ln/>
        </p:spPr>
        <p:txBody>
          <a:bodyPr wrap="square" rtlCol="0" anchor="ctr"/>
          <a:lstStyle/>
          <a:p>
            <a:pPr marL="0" indent="0">
              <a:buNone/>
            </a:pPr>
            <a:r>
              <a:rPr lang="en-US" sz="1500" b="1" dirty="0">
                <a:solidFill>
                  <a:srgbClr val="FFFFFF"/>
                </a:solidFill>
              </a:rPr>
              <a:t>Nisha Kafle</a:t>
            </a:r>
            <a:endParaRPr lang="en-US" sz="1500" dirty="0"/>
          </a:p>
          <a:p>
            <a:pPr marL="0" indent="0">
              <a:buNone/>
            </a:pPr>
            <a:r>
              <a:rPr lang="en-US" sz="1100" dirty="0">
                <a:solidFill>
                  <a:srgbClr val="CADCFC"/>
                </a:solidFill>
              </a:rPr>
              <a:t>Project Lead / Business Analyst</a:t>
            </a:r>
            <a:endParaRPr lang="en-US" sz="1500" dirty="0"/>
          </a:p>
        </p:txBody>
      </p:sp>
      <p:sp>
        <p:nvSpPr>
          <p:cNvPr id="9" name="Shape 6"/>
          <p:cNvSpPr/>
          <p:nvPr/>
        </p:nvSpPr>
        <p:spPr>
          <a:xfrm>
            <a:off x="2880360" y="4846320"/>
            <a:ext cx="2103120" cy="1005840"/>
          </a:xfrm>
          <a:prstGeom prst="roundRect">
            <a:avLst>
              <a:gd name="adj" fmla="val 9091"/>
            </a:avLst>
          </a:prstGeom>
          <a:solidFill>
            <a:srgbClr val="2C3A7A"/>
          </a:solidFill>
          <a:ln w="12700">
            <a:solidFill>
              <a:srgbClr val="44559A"/>
            </a:solidFill>
            <a:prstDash val="solid"/>
          </a:ln>
        </p:spPr>
      </p:sp>
      <p:sp>
        <p:nvSpPr>
          <p:cNvPr id="10" name="Text 7"/>
          <p:cNvSpPr txBox="1"/>
          <p:nvPr/>
        </p:nvSpPr>
        <p:spPr>
          <a:xfrm>
            <a:off x="2971800" y="4892040"/>
            <a:ext cx="1920240" cy="914400"/>
          </a:xfrm>
          <a:prstGeom prst="rect">
            <a:avLst/>
          </a:prstGeom>
          <a:noFill/>
          <a:ln/>
        </p:spPr>
        <p:txBody>
          <a:bodyPr wrap="square" rtlCol="0" anchor="ctr"/>
          <a:lstStyle/>
          <a:p>
            <a:pPr marL="0" indent="0">
              <a:buNone/>
            </a:pPr>
            <a:r>
              <a:rPr lang="en-US" sz="1500" b="1" dirty="0">
                <a:solidFill>
                  <a:srgbClr val="FFFFFF"/>
                </a:solidFill>
              </a:rPr>
              <a:t>Soniya Pandey</a:t>
            </a:r>
            <a:endParaRPr lang="en-US" sz="1500" dirty="0"/>
          </a:p>
          <a:p>
            <a:pPr marL="0" indent="0">
              <a:buNone/>
            </a:pPr>
            <a:r>
              <a:rPr lang="en-US" sz="1100" dirty="0">
                <a:solidFill>
                  <a:srgbClr val="CADCFC"/>
                </a:solidFill>
              </a:rPr>
              <a:t>Data Collection &amp; Quality</a:t>
            </a:r>
            <a:endParaRPr lang="en-US" sz="1500" dirty="0"/>
          </a:p>
        </p:txBody>
      </p:sp>
      <p:sp>
        <p:nvSpPr>
          <p:cNvPr id="11" name="Shape 8"/>
          <p:cNvSpPr/>
          <p:nvPr/>
        </p:nvSpPr>
        <p:spPr>
          <a:xfrm>
            <a:off x="5120640" y="4846320"/>
            <a:ext cx="2103120" cy="1005840"/>
          </a:xfrm>
          <a:prstGeom prst="roundRect">
            <a:avLst>
              <a:gd name="adj" fmla="val 9091"/>
            </a:avLst>
          </a:prstGeom>
          <a:solidFill>
            <a:srgbClr val="2C3A7A"/>
          </a:solidFill>
          <a:ln w="12700">
            <a:solidFill>
              <a:srgbClr val="44559A"/>
            </a:solidFill>
            <a:prstDash val="solid"/>
          </a:ln>
        </p:spPr>
      </p:sp>
      <p:sp>
        <p:nvSpPr>
          <p:cNvPr id="12" name="Text 9"/>
          <p:cNvSpPr txBox="1"/>
          <p:nvPr/>
        </p:nvSpPr>
        <p:spPr>
          <a:xfrm>
            <a:off x="5212080" y="4892040"/>
            <a:ext cx="1920240" cy="914400"/>
          </a:xfrm>
          <a:prstGeom prst="rect">
            <a:avLst/>
          </a:prstGeom>
          <a:noFill/>
          <a:ln/>
        </p:spPr>
        <p:txBody>
          <a:bodyPr wrap="square" rtlCol="0" anchor="ctr"/>
          <a:lstStyle/>
          <a:p>
            <a:pPr marL="0" indent="0">
              <a:buNone/>
            </a:pPr>
            <a:r>
              <a:rPr lang="en-US" sz="1500" b="1" dirty="0">
                <a:solidFill>
                  <a:srgbClr val="FFFFFF"/>
                </a:solidFill>
              </a:rPr>
              <a:t>Susmita Balami</a:t>
            </a:r>
            <a:endParaRPr lang="en-US" sz="1500" dirty="0"/>
          </a:p>
          <a:p>
            <a:pPr marL="0" indent="0">
              <a:buNone/>
            </a:pPr>
            <a:r>
              <a:rPr lang="en-US" sz="1100" dirty="0">
                <a:solidFill>
                  <a:srgbClr val="CADCFC"/>
                </a:solidFill>
              </a:rPr>
              <a:t>Python Data Analyst</a:t>
            </a:r>
            <a:endParaRPr lang="en-US" sz="1500" dirty="0"/>
          </a:p>
        </p:txBody>
      </p:sp>
      <p:sp>
        <p:nvSpPr>
          <p:cNvPr id="13" name="Shape 10"/>
          <p:cNvSpPr/>
          <p:nvPr/>
        </p:nvSpPr>
        <p:spPr>
          <a:xfrm>
            <a:off x="7360920" y="4846320"/>
            <a:ext cx="2103120" cy="1005840"/>
          </a:xfrm>
          <a:prstGeom prst="roundRect">
            <a:avLst>
              <a:gd name="adj" fmla="val 9091"/>
            </a:avLst>
          </a:prstGeom>
          <a:solidFill>
            <a:srgbClr val="2C3A7A"/>
          </a:solidFill>
          <a:ln w="12700">
            <a:solidFill>
              <a:srgbClr val="44559A"/>
            </a:solidFill>
            <a:prstDash val="solid"/>
          </a:ln>
        </p:spPr>
      </p:sp>
      <p:sp>
        <p:nvSpPr>
          <p:cNvPr id="14" name="Text 11"/>
          <p:cNvSpPr txBox="1"/>
          <p:nvPr/>
        </p:nvSpPr>
        <p:spPr>
          <a:xfrm>
            <a:off x="7452360" y="4892040"/>
            <a:ext cx="1920240" cy="914400"/>
          </a:xfrm>
          <a:prstGeom prst="rect">
            <a:avLst/>
          </a:prstGeom>
          <a:noFill/>
          <a:ln/>
        </p:spPr>
        <p:txBody>
          <a:bodyPr wrap="square" rtlCol="0" anchor="ctr"/>
          <a:lstStyle/>
          <a:p>
            <a:pPr marL="0" indent="0">
              <a:buNone/>
            </a:pPr>
            <a:r>
              <a:rPr lang="en-US" sz="1500" b="1" dirty="0">
                <a:solidFill>
                  <a:srgbClr val="FFFFFF"/>
                </a:solidFill>
              </a:rPr>
              <a:t>Swikriti Bhusal</a:t>
            </a:r>
            <a:endParaRPr lang="en-US" sz="1500" dirty="0"/>
          </a:p>
          <a:p>
            <a:pPr marL="0" indent="0">
              <a:buNone/>
            </a:pPr>
            <a:r>
              <a:rPr lang="en-US" sz="1100" dirty="0">
                <a:solidFill>
                  <a:srgbClr val="CADCFC"/>
                </a:solidFill>
              </a:rPr>
              <a:t>Visualization Analyst</a:t>
            </a:r>
            <a:endParaRPr lang="en-US" sz="1500" dirty="0"/>
          </a:p>
        </p:txBody>
      </p:sp>
      <p:sp>
        <p:nvSpPr>
          <p:cNvPr id="15" name="Shape 12"/>
          <p:cNvSpPr/>
          <p:nvPr/>
        </p:nvSpPr>
        <p:spPr>
          <a:xfrm>
            <a:off x="9601200" y="4846320"/>
            <a:ext cx="2103120" cy="1005840"/>
          </a:xfrm>
          <a:prstGeom prst="roundRect">
            <a:avLst>
              <a:gd name="adj" fmla="val 9091"/>
            </a:avLst>
          </a:prstGeom>
          <a:solidFill>
            <a:srgbClr val="2C3A7A"/>
          </a:solidFill>
          <a:ln w="12700">
            <a:solidFill>
              <a:srgbClr val="44559A"/>
            </a:solidFill>
            <a:prstDash val="solid"/>
          </a:ln>
        </p:spPr>
      </p:sp>
      <p:sp>
        <p:nvSpPr>
          <p:cNvPr id="16" name="Text 13"/>
          <p:cNvSpPr txBox="1"/>
          <p:nvPr/>
        </p:nvSpPr>
        <p:spPr>
          <a:xfrm>
            <a:off x="9692640" y="4892040"/>
            <a:ext cx="1920240" cy="914400"/>
          </a:xfrm>
          <a:prstGeom prst="rect">
            <a:avLst/>
          </a:prstGeom>
          <a:noFill/>
          <a:ln/>
        </p:spPr>
        <p:txBody>
          <a:bodyPr wrap="square" rtlCol="0" anchor="ctr"/>
          <a:lstStyle/>
          <a:p>
            <a:pPr marL="0" indent="0">
              <a:buNone/>
            </a:pPr>
            <a:r>
              <a:rPr lang="en-US" sz="1500" b="1" dirty="0">
                <a:solidFill>
                  <a:srgbClr val="FFFFFF"/>
                </a:solidFill>
              </a:rPr>
              <a:t>Pratish Shakya</a:t>
            </a:r>
            <a:endParaRPr lang="en-US" sz="1500" dirty="0"/>
          </a:p>
          <a:p>
            <a:pPr marL="0" indent="0">
              <a:buNone/>
            </a:pPr>
            <a:r>
              <a:rPr lang="en-US" sz="1100" dirty="0">
                <a:solidFill>
                  <a:srgbClr val="CADCFC"/>
                </a:solidFill>
              </a:rPr>
              <a:t>Machine Learning Analyst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Business Problem</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6" name="Text 4"/>
          <p:cNvSpPr txBox="1"/>
          <p:nvPr/>
        </p:nvSpPr>
        <p:spPr>
          <a:xfrm>
            <a:off x="548640" y="1188720"/>
            <a:ext cx="5120640" cy="2011680"/>
          </a:xfrm>
          <a:prstGeom prst="rect">
            <a:avLst/>
          </a:prstGeom>
          <a:noFill/>
          <a:ln/>
        </p:spPr>
        <p:txBody>
          <a:bodyPr wrap="square" rtlCol="0" anchor="t"/>
          <a:lstStyle/>
          <a:p>
            <a:pPr marL="0" indent="0">
              <a:buNone/>
            </a:pPr>
            <a:r>
              <a:rPr lang="en-US" sz="2200" dirty="0">
                <a:solidFill>
                  <a:srgbClr val="22283A"/>
                </a:solidFill>
              </a:rPr>
              <a:t>A retail business wants to understand how it is selling and which customers are likely to become high-value.</a:t>
            </a:r>
            <a:endParaRPr lang="en-US" sz="2200" dirty="0"/>
          </a:p>
        </p:txBody>
      </p:sp>
      <p:sp>
        <p:nvSpPr>
          <p:cNvPr id="7" name="Text 5"/>
          <p:cNvSpPr txBox="1"/>
          <p:nvPr/>
        </p:nvSpPr>
        <p:spPr>
          <a:xfrm>
            <a:off x="548640" y="3383280"/>
            <a:ext cx="5120640" cy="914400"/>
          </a:xfrm>
          <a:prstGeom prst="rect">
            <a:avLst/>
          </a:prstGeom>
          <a:noFill/>
          <a:ln/>
        </p:spPr>
        <p:txBody>
          <a:bodyPr wrap="square" rtlCol="0" anchor="t"/>
          <a:lstStyle/>
          <a:p>
            <a:pPr marL="0" indent="0">
              <a:buNone/>
            </a:pPr>
            <a:r>
              <a:rPr lang="en-US" sz="1600" dirty="0">
                <a:solidFill>
                  <a:srgbClr val="5B6478"/>
                </a:solidFill>
              </a:rPr>
              <a:t>Dataset: Online Retail II, two years of real UK online-retailer transactions.</a:t>
            </a:r>
            <a:endParaRPr lang="en-US" sz="1600" dirty="0"/>
          </a:p>
        </p:txBody>
      </p:sp>
      <p:sp>
        <p:nvSpPr>
          <p:cNvPr id="8" name="Shape 6"/>
          <p:cNvSpPr/>
          <p:nvPr/>
        </p:nvSpPr>
        <p:spPr>
          <a:xfrm>
            <a:off x="6217920" y="1188720"/>
            <a:ext cx="5394960" cy="1463040"/>
          </a:xfrm>
          <a:prstGeom prst="roundRect">
            <a:avLst>
              <a:gd name="adj" fmla="val 7500"/>
            </a:avLst>
          </a:prstGeom>
          <a:solidFill>
            <a:srgbClr val="FFFFFF"/>
          </a:solidFill>
          <a:ln w="12700">
            <a:solidFill>
              <a:srgbClr val="D5DCEA"/>
            </a:solidFill>
            <a:prstDash val="solid"/>
          </a:ln>
        </p:spPr>
      </p:sp>
      <p:sp>
        <p:nvSpPr>
          <p:cNvPr id="9" name="Shape 7"/>
          <p:cNvSpPr/>
          <p:nvPr/>
        </p:nvSpPr>
        <p:spPr>
          <a:xfrm>
            <a:off x="6446520" y="1600200"/>
            <a:ext cx="640080" cy="640080"/>
          </a:xfrm>
          <a:prstGeom prst="ellipse">
            <a:avLst/>
          </a:prstGeom>
          <a:solidFill>
            <a:srgbClr val="1E2761"/>
          </a:solidFill>
          <a:ln w="12700">
            <a:solidFill>
              <a:srgbClr val="1E2761"/>
            </a:solidFill>
            <a:prstDash val="solid"/>
          </a:ln>
        </p:spPr>
      </p:sp>
      <p:sp>
        <p:nvSpPr>
          <p:cNvPr id="10" name="Text 8"/>
          <p:cNvSpPr txBox="1"/>
          <p:nvPr/>
        </p:nvSpPr>
        <p:spPr>
          <a:xfrm>
            <a:off x="6446520" y="160020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11" name="Text 9"/>
          <p:cNvSpPr txBox="1"/>
          <p:nvPr/>
        </p:nvSpPr>
        <p:spPr>
          <a:xfrm>
            <a:off x="7315200" y="1371600"/>
            <a:ext cx="4160520" cy="1097280"/>
          </a:xfrm>
          <a:prstGeom prst="rect">
            <a:avLst/>
          </a:prstGeom>
          <a:noFill/>
          <a:ln/>
        </p:spPr>
        <p:txBody>
          <a:bodyPr wrap="square" rtlCol="0" anchor="ctr"/>
          <a:lstStyle/>
          <a:p>
            <a:pPr marL="0" indent="0">
              <a:buNone/>
            </a:pPr>
            <a:r>
              <a:rPr lang="en-US" sz="2000" b="1" dirty="0">
                <a:solidFill>
                  <a:srgbClr val="1E2761"/>
                </a:solidFill>
              </a:rPr>
              <a:t>Understand sales</a:t>
            </a:r>
            <a:endParaRPr lang="en-US" sz="2000" dirty="0"/>
          </a:p>
          <a:p>
            <a:pPr marL="0" indent="0">
              <a:buNone/>
            </a:pPr>
            <a:r>
              <a:rPr lang="en-US" sz="1400" dirty="0">
                <a:solidFill>
                  <a:srgbClr val="5B6478"/>
                </a:solidFill>
              </a:rPr>
              <a:t>Revenue, seasonality, products, countries</a:t>
            </a:r>
            <a:endParaRPr lang="en-US" sz="2000" dirty="0"/>
          </a:p>
        </p:txBody>
      </p:sp>
      <p:sp>
        <p:nvSpPr>
          <p:cNvPr id="12" name="Shape 10"/>
          <p:cNvSpPr/>
          <p:nvPr/>
        </p:nvSpPr>
        <p:spPr>
          <a:xfrm>
            <a:off x="6217920" y="2880360"/>
            <a:ext cx="5394960" cy="1463040"/>
          </a:xfrm>
          <a:prstGeom prst="roundRect">
            <a:avLst>
              <a:gd name="adj" fmla="val 7500"/>
            </a:avLst>
          </a:prstGeom>
          <a:solidFill>
            <a:srgbClr val="FFFFFF"/>
          </a:solidFill>
          <a:ln w="12700">
            <a:solidFill>
              <a:srgbClr val="D5DCEA"/>
            </a:solidFill>
            <a:prstDash val="solid"/>
          </a:ln>
        </p:spPr>
      </p:sp>
      <p:sp>
        <p:nvSpPr>
          <p:cNvPr id="13" name="Shape 11"/>
          <p:cNvSpPr/>
          <p:nvPr/>
        </p:nvSpPr>
        <p:spPr>
          <a:xfrm>
            <a:off x="6446520" y="3291840"/>
            <a:ext cx="640080" cy="640080"/>
          </a:xfrm>
          <a:prstGeom prst="ellipse">
            <a:avLst/>
          </a:prstGeom>
          <a:solidFill>
            <a:srgbClr val="1E2761"/>
          </a:solidFill>
          <a:ln w="12700">
            <a:solidFill>
              <a:srgbClr val="1E2761"/>
            </a:solidFill>
            <a:prstDash val="solid"/>
          </a:ln>
        </p:spPr>
      </p:sp>
      <p:sp>
        <p:nvSpPr>
          <p:cNvPr id="14" name="Text 12"/>
          <p:cNvSpPr txBox="1"/>
          <p:nvPr/>
        </p:nvSpPr>
        <p:spPr>
          <a:xfrm>
            <a:off x="6446520" y="329184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5" name="Text 13"/>
          <p:cNvSpPr txBox="1"/>
          <p:nvPr/>
        </p:nvSpPr>
        <p:spPr>
          <a:xfrm>
            <a:off x="7315200" y="3063240"/>
            <a:ext cx="4160520" cy="1097280"/>
          </a:xfrm>
          <a:prstGeom prst="rect">
            <a:avLst/>
          </a:prstGeom>
          <a:noFill/>
          <a:ln/>
        </p:spPr>
        <p:txBody>
          <a:bodyPr wrap="square" rtlCol="0" anchor="ctr"/>
          <a:lstStyle/>
          <a:p>
            <a:pPr marL="0" indent="0">
              <a:buNone/>
            </a:pPr>
            <a:r>
              <a:rPr lang="en-US" sz="2000" b="1" dirty="0">
                <a:solidFill>
                  <a:srgbClr val="1E2761"/>
                </a:solidFill>
              </a:rPr>
              <a:t>Find high-value customers</a:t>
            </a:r>
            <a:endParaRPr lang="en-US" sz="2000" dirty="0"/>
          </a:p>
          <a:p>
            <a:pPr marL="0" indent="0">
              <a:buNone/>
            </a:pPr>
            <a:r>
              <a:rPr lang="en-US" sz="1400" dirty="0">
                <a:solidFill>
                  <a:srgbClr val="5B6478"/>
                </a:solidFill>
              </a:rPr>
              <a:t>A transparent rule, not a guess</a:t>
            </a:r>
            <a:endParaRPr lang="en-US" sz="2000" dirty="0"/>
          </a:p>
        </p:txBody>
      </p:sp>
      <p:sp>
        <p:nvSpPr>
          <p:cNvPr id="16" name="Shape 14"/>
          <p:cNvSpPr/>
          <p:nvPr/>
        </p:nvSpPr>
        <p:spPr>
          <a:xfrm>
            <a:off x="6217920" y="4572000"/>
            <a:ext cx="5394960" cy="1463040"/>
          </a:xfrm>
          <a:prstGeom prst="roundRect">
            <a:avLst>
              <a:gd name="adj" fmla="val 7500"/>
            </a:avLst>
          </a:prstGeom>
          <a:solidFill>
            <a:srgbClr val="FFFFFF"/>
          </a:solidFill>
          <a:ln w="12700">
            <a:solidFill>
              <a:srgbClr val="D5DCEA"/>
            </a:solidFill>
            <a:prstDash val="solid"/>
          </a:ln>
        </p:spPr>
      </p:sp>
      <p:sp>
        <p:nvSpPr>
          <p:cNvPr id="17" name="Shape 15"/>
          <p:cNvSpPr/>
          <p:nvPr/>
        </p:nvSpPr>
        <p:spPr>
          <a:xfrm>
            <a:off x="6446520" y="4983480"/>
            <a:ext cx="640080" cy="640080"/>
          </a:xfrm>
          <a:prstGeom prst="ellipse">
            <a:avLst/>
          </a:prstGeom>
          <a:solidFill>
            <a:srgbClr val="1E2761"/>
          </a:solidFill>
          <a:ln w="12700">
            <a:solidFill>
              <a:srgbClr val="1E2761"/>
            </a:solidFill>
            <a:prstDash val="solid"/>
          </a:ln>
        </p:spPr>
      </p:sp>
      <p:sp>
        <p:nvSpPr>
          <p:cNvPr id="18" name="Text 16"/>
          <p:cNvSpPr txBox="1"/>
          <p:nvPr/>
        </p:nvSpPr>
        <p:spPr>
          <a:xfrm>
            <a:off x="6446520" y="498348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9" name="Text 17"/>
          <p:cNvSpPr txBox="1"/>
          <p:nvPr/>
        </p:nvSpPr>
        <p:spPr>
          <a:xfrm>
            <a:off x="7315200" y="4754880"/>
            <a:ext cx="4160520" cy="1097280"/>
          </a:xfrm>
          <a:prstGeom prst="rect">
            <a:avLst/>
          </a:prstGeom>
          <a:noFill/>
          <a:ln/>
        </p:spPr>
        <p:txBody>
          <a:bodyPr wrap="square" rtlCol="0" anchor="ctr"/>
          <a:lstStyle/>
          <a:p>
            <a:pPr marL="0" indent="0">
              <a:buNone/>
            </a:pPr>
            <a:r>
              <a:rPr lang="en-US" sz="2000" b="1" dirty="0">
                <a:solidFill>
                  <a:srgbClr val="1E2761"/>
                </a:solidFill>
              </a:rPr>
              <a:t>Focus effort</a:t>
            </a:r>
            <a:endParaRPr lang="en-US" sz="2000" dirty="0"/>
          </a:p>
          <a:p>
            <a:pPr marL="0" indent="0">
              <a:buNone/>
            </a:pPr>
            <a:r>
              <a:rPr lang="en-US" sz="1400" dirty="0">
                <a:solidFill>
                  <a:srgbClr val="5B6478"/>
                </a:solidFill>
              </a:rPr>
              <a:t>Retention and marketing where it matters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Objectives &amp; KPIs</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6" name="Shape 4"/>
          <p:cNvSpPr/>
          <p:nvPr/>
        </p:nvSpPr>
        <p:spPr>
          <a:xfrm>
            <a:off x="548640" y="1298448"/>
            <a:ext cx="548640" cy="548640"/>
          </a:xfrm>
          <a:prstGeom prst="ellipse">
            <a:avLst/>
          </a:prstGeom>
          <a:solidFill>
            <a:srgbClr val="3E5C9A"/>
          </a:solidFill>
          <a:ln w="12700">
            <a:solidFill>
              <a:srgbClr val="3E5C9A"/>
            </a:solidFill>
            <a:prstDash val="solid"/>
          </a:ln>
        </p:spPr>
      </p:sp>
      <p:sp>
        <p:nvSpPr>
          <p:cNvPr id="7" name="Text 5"/>
          <p:cNvSpPr txBox="1"/>
          <p:nvPr/>
        </p:nvSpPr>
        <p:spPr>
          <a:xfrm>
            <a:off x="548640" y="1298448"/>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Text 6"/>
          <p:cNvSpPr txBox="1"/>
          <p:nvPr/>
        </p:nvSpPr>
        <p:spPr>
          <a:xfrm>
            <a:off x="1280160" y="1188720"/>
            <a:ext cx="5394960" cy="777240"/>
          </a:xfrm>
          <a:prstGeom prst="rect">
            <a:avLst/>
          </a:prstGeom>
          <a:noFill/>
          <a:ln/>
        </p:spPr>
        <p:txBody>
          <a:bodyPr wrap="square" rtlCol="0" anchor="ctr"/>
          <a:lstStyle/>
          <a:p>
            <a:pPr marL="0" indent="0">
              <a:buNone/>
            </a:pPr>
            <a:r>
              <a:rPr lang="en-US" sz="1700" dirty="0">
                <a:solidFill>
                  <a:srgbClr val="22283A"/>
                </a:solidFill>
              </a:rPr>
              <a:t>Measure sales performance: revenue, trends, top products and countries</a:t>
            </a:r>
            <a:endParaRPr lang="en-US" sz="1700" dirty="0"/>
          </a:p>
        </p:txBody>
      </p:sp>
      <p:sp>
        <p:nvSpPr>
          <p:cNvPr id="9" name="Shape 7"/>
          <p:cNvSpPr/>
          <p:nvPr/>
        </p:nvSpPr>
        <p:spPr>
          <a:xfrm>
            <a:off x="548640" y="2322576"/>
            <a:ext cx="548640" cy="548640"/>
          </a:xfrm>
          <a:prstGeom prst="ellipse">
            <a:avLst/>
          </a:prstGeom>
          <a:solidFill>
            <a:srgbClr val="3E5C9A"/>
          </a:solidFill>
          <a:ln w="12700">
            <a:solidFill>
              <a:srgbClr val="3E5C9A"/>
            </a:solidFill>
            <a:prstDash val="solid"/>
          </a:ln>
        </p:spPr>
      </p:sp>
      <p:sp>
        <p:nvSpPr>
          <p:cNvPr id="10" name="Text 8"/>
          <p:cNvSpPr txBox="1"/>
          <p:nvPr/>
        </p:nvSpPr>
        <p:spPr>
          <a:xfrm>
            <a:off x="548640" y="2322576"/>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Text 9"/>
          <p:cNvSpPr txBox="1"/>
          <p:nvPr/>
        </p:nvSpPr>
        <p:spPr>
          <a:xfrm>
            <a:off x="1280160" y="2212848"/>
            <a:ext cx="5394960" cy="777240"/>
          </a:xfrm>
          <a:prstGeom prst="rect">
            <a:avLst/>
          </a:prstGeom>
          <a:noFill/>
          <a:ln/>
        </p:spPr>
        <p:txBody>
          <a:bodyPr wrap="square" rtlCol="0" anchor="ctr"/>
          <a:lstStyle/>
          <a:p>
            <a:pPr marL="0" indent="0">
              <a:buNone/>
            </a:pPr>
            <a:r>
              <a:rPr lang="en-US" sz="1700" dirty="0">
                <a:solidFill>
                  <a:srgbClr val="22283A"/>
                </a:solidFill>
              </a:rPr>
              <a:t>Define a transparent, reproducible high-value customer rule</a:t>
            </a:r>
            <a:endParaRPr lang="en-US" sz="1700" dirty="0"/>
          </a:p>
        </p:txBody>
      </p:sp>
      <p:sp>
        <p:nvSpPr>
          <p:cNvPr id="12" name="Shape 10"/>
          <p:cNvSpPr/>
          <p:nvPr/>
        </p:nvSpPr>
        <p:spPr>
          <a:xfrm>
            <a:off x="548640" y="3346704"/>
            <a:ext cx="548640" cy="548640"/>
          </a:xfrm>
          <a:prstGeom prst="ellipse">
            <a:avLst/>
          </a:prstGeom>
          <a:solidFill>
            <a:srgbClr val="3E5C9A"/>
          </a:solidFill>
          <a:ln w="12700">
            <a:solidFill>
              <a:srgbClr val="3E5C9A"/>
            </a:solidFill>
            <a:prstDash val="solid"/>
          </a:ln>
        </p:spPr>
      </p:sp>
      <p:sp>
        <p:nvSpPr>
          <p:cNvPr id="13" name="Text 11"/>
          <p:cNvSpPr txBox="1"/>
          <p:nvPr/>
        </p:nvSpPr>
        <p:spPr>
          <a:xfrm>
            <a:off x="548640" y="3346704"/>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4" name="Text 12"/>
          <p:cNvSpPr txBox="1"/>
          <p:nvPr/>
        </p:nvSpPr>
        <p:spPr>
          <a:xfrm>
            <a:off x="1280160" y="3236976"/>
            <a:ext cx="5394960" cy="777240"/>
          </a:xfrm>
          <a:prstGeom prst="rect">
            <a:avLst/>
          </a:prstGeom>
          <a:noFill/>
          <a:ln/>
        </p:spPr>
        <p:txBody>
          <a:bodyPr wrap="square" rtlCol="0" anchor="ctr"/>
          <a:lstStyle/>
          <a:p>
            <a:pPr marL="0" indent="0">
              <a:buNone/>
            </a:pPr>
            <a:r>
              <a:rPr lang="en-US" sz="1700" dirty="0">
                <a:solidFill>
                  <a:srgbClr val="22283A"/>
                </a:solidFill>
              </a:rPr>
              <a:t>Predict high-value customers from past behavior only (no leakage)</a:t>
            </a:r>
            <a:endParaRPr lang="en-US" sz="1700" dirty="0"/>
          </a:p>
        </p:txBody>
      </p:sp>
      <p:sp>
        <p:nvSpPr>
          <p:cNvPr id="15" name="Shape 13"/>
          <p:cNvSpPr/>
          <p:nvPr/>
        </p:nvSpPr>
        <p:spPr>
          <a:xfrm>
            <a:off x="548640" y="4370832"/>
            <a:ext cx="548640" cy="548640"/>
          </a:xfrm>
          <a:prstGeom prst="ellipse">
            <a:avLst/>
          </a:prstGeom>
          <a:solidFill>
            <a:srgbClr val="3E5C9A"/>
          </a:solidFill>
          <a:ln w="12700">
            <a:solidFill>
              <a:srgbClr val="3E5C9A"/>
            </a:solidFill>
            <a:prstDash val="solid"/>
          </a:ln>
        </p:spPr>
      </p:sp>
      <p:sp>
        <p:nvSpPr>
          <p:cNvPr id="16" name="Text 14"/>
          <p:cNvSpPr txBox="1"/>
          <p:nvPr/>
        </p:nvSpPr>
        <p:spPr>
          <a:xfrm>
            <a:off x="548640" y="4370832"/>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7" name="Text 15"/>
          <p:cNvSpPr txBox="1"/>
          <p:nvPr/>
        </p:nvSpPr>
        <p:spPr>
          <a:xfrm>
            <a:off x="1280160" y="4261104"/>
            <a:ext cx="5394960" cy="777240"/>
          </a:xfrm>
          <a:prstGeom prst="rect">
            <a:avLst/>
          </a:prstGeom>
          <a:noFill/>
          <a:ln/>
        </p:spPr>
        <p:txBody>
          <a:bodyPr wrap="square" rtlCol="0" anchor="ctr"/>
          <a:lstStyle/>
          <a:p>
            <a:pPr marL="0" indent="0">
              <a:buNone/>
            </a:pPr>
            <a:r>
              <a:rPr lang="en-US" sz="1700" dirty="0">
                <a:solidFill>
                  <a:srgbClr val="22283A"/>
                </a:solidFill>
              </a:rPr>
              <a:t>Compare Baseline, Logistic Regression and Random Forest</a:t>
            </a:r>
            <a:endParaRPr lang="en-US" sz="1700" dirty="0"/>
          </a:p>
        </p:txBody>
      </p:sp>
      <p:sp>
        <p:nvSpPr>
          <p:cNvPr id="18" name="Shape 16"/>
          <p:cNvSpPr/>
          <p:nvPr/>
        </p:nvSpPr>
        <p:spPr>
          <a:xfrm>
            <a:off x="548640" y="5394960"/>
            <a:ext cx="548640" cy="548640"/>
          </a:xfrm>
          <a:prstGeom prst="ellipse">
            <a:avLst/>
          </a:prstGeom>
          <a:solidFill>
            <a:srgbClr val="3E5C9A"/>
          </a:solidFill>
          <a:ln w="12700">
            <a:solidFill>
              <a:srgbClr val="3E5C9A"/>
            </a:solidFill>
            <a:prstDash val="solid"/>
          </a:ln>
        </p:spPr>
      </p:sp>
      <p:sp>
        <p:nvSpPr>
          <p:cNvPr id="19" name="Text 17"/>
          <p:cNvSpPr txBox="1"/>
          <p:nvPr/>
        </p:nvSpPr>
        <p:spPr>
          <a:xfrm>
            <a:off x="548640" y="53949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0" name="Text 18"/>
          <p:cNvSpPr txBox="1"/>
          <p:nvPr/>
        </p:nvSpPr>
        <p:spPr>
          <a:xfrm>
            <a:off x="1280160" y="5285232"/>
            <a:ext cx="5394960" cy="777240"/>
          </a:xfrm>
          <a:prstGeom prst="rect">
            <a:avLst/>
          </a:prstGeom>
          <a:noFill/>
          <a:ln/>
        </p:spPr>
        <p:txBody>
          <a:bodyPr wrap="square" rtlCol="0" anchor="ctr"/>
          <a:lstStyle/>
          <a:p>
            <a:pPr marL="0" indent="0">
              <a:buNone/>
            </a:pPr>
            <a:r>
              <a:rPr lang="en-US" sz="1700" dirty="0">
                <a:solidFill>
                  <a:srgbClr val="22283A"/>
                </a:solidFill>
              </a:rPr>
              <a:t>Turn findings into evidence-based recommendations</a:t>
            </a:r>
            <a:endParaRPr lang="en-US" sz="1700" dirty="0"/>
          </a:p>
        </p:txBody>
      </p:sp>
      <p:sp>
        <p:nvSpPr>
          <p:cNvPr id="21" name="Shape 19"/>
          <p:cNvSpPr/>
          <p:nvPr/>
        </p:nvSpPr>
        <p:spPr>
          <a:xfrm>
            <a:off x="7040880" y="1188720"/>
            <a:ext cx="2286000" cy="1737360"/>
          </a:xfrm>
          <a:prstGeom prst="roundRect">
            <a:avLst>
              <a:gd name="adj" fmla="val 6316"/>
            </a:avLst>
          </a:prstGeom>
          <a:solidFill>
            <a:srgbClr val="FFFFFF"/>
          </a:solidFill>
          <a:ln w="12700">
            <a:solidFill>
              <a:srgbClr val="D5DCEA"/>
            </a:solidFill>
            <a:prstDash val="solid"/>
          </a:ln>
        </p:spPr>
      </p:sp>
      <p:sp>
        <p:nvSpPr>
          <p:cNvPr id="22" name="Text 20"/>
          <p:cNvSpPr txBox="1"/>
          <p:nvPr/>
        </p:nvSpPr>
        <p:spPr>
          <a:xfrm>
            <a:off x="7040880" y="1280160"/>
            <a:ext cx="2286000" cy="955548"/>
          </a:xfrm>
          <a:prstGeom prst="rect">
            <a:avLst/>
          </a:prstGeom>
          <a:noFill/>
          <a:ln/>
        </p:spPr>
        <p:txBody>
          <a:bodyPr wrap="square" lIns="0" tIns="0" rIns="0" bIns="0" rtlCol="0" anchor="ctr"/>
          <a:lstStyle/>
          <a:p>
            <a:pPr marL="0" indent="0" algn="ctr">
              <a:buNone/>
            </a:pPr>
            <a:r>
              <a:rPr lang="en-US" sz="2600" b="1" dirty="0">
                <a:solidFill>
                  <a:srgbClr val="1E2761"/>
                </a:solidFill>
              </a:rPr>
              <a:t>17.07M</a:t>
            </a:r>
            <a:endParaRPr lang="en-US" sz="2600" dirty="0"/>
          </a:p>
        </p:txBody>
      </p:sp>
      <p:sp>
        <p:nvSpPr>
          <p:cNvPr id="23" name="Text 21"/>
          <p:cNvSpPr txBox="1"/>
          <p:nvPr/>
        </p:nvSpPr>
        <p:spPr>
          <a:xfrm>
            <a:off x="7040880" y="2196389"/>
            <a:ext cx="2286000" cy="608076"/>
          </a:xfrm>
          <a:prstGeom prst="rect">
            <a:avLst/>
          </a:prstGeom>
          <a:noFill/>
          <a:ln/>
        </p:spPr>
        <p:txBody>
          <a:bodyPr wrap="square" lIns="0" tIns="0" rIns="0" bIns="0" rtlCol="0" anchor="t"/>
          <a:lstStyle/>
          <a:p>
            <a:pPr marL="0" indent="0" algn="ctr">
              <a:buNone/>
            </a:pPr>
            <a:r>
              <a:rPr lang="en-US" sz="1200" dirty="0">
                <a:solidFill>
                  <a:srgbClr val="5B6478"/>
                </a:solidFill>
              </a:rPr>
              <a:t>Total revenue (valid sales)</a:t>
            </a:r>
            <a:endParaRPr lang="en-US" sz="1200" dirty="0"/>
          </a:p>
        </p:txBody>
      </p:sp>
      <p:sp>
        <p:nvSpPr>
          <p:cNvPr id="24" name="Shape 22"/>
          <p:cNvSpPr/>
          <p:nvPr/>
        </p:nvSpPr>
        <p:spPr>
          <a:xfrm>
            <a:off x="9509760" y="1188720"/>
            <a:ext cx="2286000" cy="1737360"/>
          </a:xfrm>
          <a:prstGeom prst="roundRect">
            <a:avLst>
              <a:gd name="adj" fmla="val 6316"/>
            </a:avLst>
          </a:prstGeom>
          <a:solidFill>
            <a:srgbClr val="FFFFFF"/>
          </a:solidFill>
          <a:ln w="12700">
            <a:solidFill>
              <a:srgbClr val="D5DCEA"/>
            </a:solidFill>
            <a:prstDash val="solid"/>
          </a:ln>
        </p:spPr>
      </p:sp>
      <p:sp>
        <p:nvSpPr>
          <p:cNvPr id="25" name="Text 23"/>
          <p:cNvSpPr txBox="1"/>
          <p:nvPr/>
        </p:nvSpPr>
        <p:spPr>
          <a:xfrm>
            <a:off x="9509760" y="1280160"/>
            <a:ext cx="2286000" cy="955548"/>
          </a:xfrm>
          <a:prstGeom prst="rect">
            <a:avLst/>
          </a:prstGeom>
          <a:noFill/>
          <a:ln/>
        </p:spPr>
        <p:txBody>
          <a:bodyPr wrap="square" lIns="0" tIns="0" rIns="0" bIns="0" rtlCol="0" anchor="ctr"/>
          <a:lstStyle/>
          <a:p>
            <a:pPr marL="0" indent="0" algn="ctr">
              <a:buNone/>
            </a:pPr>
            <a:r>
              <a:rPr lang="en-US" sz="2600" b="1" dirty="0">
                <a:solidFill>
                  <a:srgbClr val="1E2761"/>
                </a:solidFill>
              </a:rPr>
              <a:t>5,861</a:t>
            </a:r>
            <a:endParaRPr lang="en-US" sz="2600" dirty="0"/>
          </a:p>
        </p:txBody>
      </p:sp>
      <p:sp>
        <p:nvSpPr>
          <p:cNvPr id="26" name="Text 24"/>
          <p:cNvSpPr txBox="1"/>
          <p:nvPr/>
        </p:nvSpPr>
        <p:spPr>
          <a:xfrm>
            <a:off x="9509760" y="2196389"/>
            <a:ext cx="2286000" cy="608076"/>
          </a:xfrm>
          <a:prstGeom prst="rect">
            <a:avLst/>
          </a:prstGeom>
          <a:noFill/>
          <a:ln/>
        </p:spPr>
        <p:txBody>
          <a:bodyPr wrap="square" lIns="0" tIns="0" rIns="0" bIns="0" rtlCol="0" anchor="t"/>
          <a:lstStyle/>
          <a:p>
            <a:pPr marL="0" indent="0" algn="ctr">
              <a:buNone/>
            </a:pPr>
            <a:r>
              <a:rPr lang="en-US" sz="1200" dirty="0">
                <a:solidFill>
                  <a:srgbClr val="5B6478"/>
                </a:solidFill>
              </a:rPr>
              <a:t>Customers with valid sales</a:t>
            </a:r>
            <a:endParaRPr lang="en-US" sz="1200" dirty="0"/>
          </a:p>
        </p:txBody>
      </p:sp>
      <p:sp>
        <p:nvSpPr>
          <p:cNvPr id="27" name="Shape 25"/>
          <p:cNvSpPr/>
          <p:nvPr/>
        </p:nvSpPr>
        <p:spPr>
          <a:xfrm>
            <a:off x="7040880" y="3108960"/>
            <a:ext cx="2286000" cy="1737360"/>
          </a:xfrm>
          <a:prstGeom prst="roundRect">
            <a:avLst>
              <a:gd name="adj" fmla="val 6316"/>
            </a:avLst>
          </a:prstGeom>
          <a:solidFill>
            <a:srgbClr val="FFFFFF"/>
          </a:solidFill>
          <a:ln w="12700">
            <a:solidFill>
              <a:srgbClr val="D5DCEA"/>
            </a:solidFill>
            <a:prstDash val="solid"/>
          </a:ln>
        </p:spPr>
      </p:sp>
      <p:sp>
        <p:nvSpPr>
          <p:cNvPr id="28" name="Text 26"/>
          <p:cNvSpPr txBox="1"/>
          <p:nvPr/>
        </p:nvSpPr>
        <p:spPr>
          <a:xfrm>
            <a:off x="7040880" y="3200400"/>
            <a:ext cx="2286000" cy="955548"/>
          </a:xfrm>
          <a:prstGeom prst="rect">
            <a:avLst/>
          </a:prstGeom>
          <a:noFill/>
          <a:ln/>
        </p:spPr>
        <p:txBody>
          <a:bodyPr wrap="square" lIns="0" tIns="0" rIns="0" bIns="0" rtlCol="0" anchor="ctr"/>
          <a:lstStyle/>
          <a:p>
            <a:pPr marL="0" indent="0" algn="ctr">
              <a:buNone/>
            </a:pPr>
            <a:r>
              <a:rPr lang="en-US" sz="2600" b="1" dirty="0">
                <a:solidFill>
                  <a:srgbClr val="F96167"/>
                </a:solidFill>
              </a:rPr>
              <a:t>25%</a:t>
            </a:r>
            <a:endParaRPr lang="en-US" sz="2600" dirty="0"/>
          </a:p>
        </p:txBody>
      </p:sp>
      <p:sp>
        <p:nvSpPr>
          <p:cNvPr id="29" name="Text 27"/>
          <p:cNvSpPr txBox="1"/>
          <p:nvPr/>
        </p:nvSpPr>
        <p:spPr>
          <a:xfrm>
            <a:off x="7040880" y="4116629"/>
            <a:ext cx="2286000" cy="608076"/>
          </a:xfrm>
          <a:prstGeom prst="rect">
            <a:avLst/>
          </a:prstGeom>
          <a:noFill/>
          <a:ln/>
        </p:spPr>
        <p:txBody>
          <a:bodyPr wrap="square" lIns="0" tIns="0" rIns="0" bIns="0" rtlCol="0" anchor="t"/>
          <a:lstStyle/>
          <a:p>
            <a:pPr marL="0" indent="0" algn="ctr">
              <a:buNone/>
            </a:pPr>
            <a:r>
              <a:rPr lang="en-US" sz="1200" dirty="0">
                <a:solidFill>
                  <a:srgbClr val="5B6478"/>
                </a:solidFill>
              </a:rPr>
              <a:t>Customers who become high-value</a:t>
            </a:r>
            <a:endParaRPr lang="en-US" sz="1200" dirty="0"/>
          </a:p>
        </p:txBody>
      </p:sp>
      <p:sp>
        <p:nvSpPr>
          <p:cNvPr id="30" name="Shape 28"/>
          <p:cNvSpPr/>
          <p:nvPr/>
        </p:nvSpPr>
        <p:spPr>
          <a:xfrm>
            <a:off x="9509760" y="3108960"/>
            <a:ext cx="2286000" cy="1737360"/>
          </a:xfrm>
          <a:prstGeom prst="roundRect">
            <a:avLst>
              <a:gd name="adj" fmla="val 6316"/>
            </a:avLst>
          </a:prstGeom>
          <a:solidFill>
            <a:srgbClr val="FFFFFF"/>
          </a:solidFill>
          <a:ln w="12700">
            <a:solidFill>
              <a:srgbClr val="D5DCEA"/>
            </a:solidFill>
            <a:prstDash val="solid"/>
          </a:ln>
        </p:spPr>
      </p:sp>
      <p:sp>
        <p:nvSpPr>
          <p:cNvPr id="31" name="Text 29"/>
          <p:cNvSpPr txBox="1"/>
          <p:nvPr/>
        </p:nvSpPr>
        <p:spPr>
          <a:xfrm>
            <a:off x="9509760" y="3200400"/>
            <a:ext cx="2286000" cy="955548"/>
          </a:xfrm>
          <a:prstGeom prst="rect">
            <a:avLst/>
          </a:prstGeom>
          <a:noFill/>
          <a:ln/>
        </p:spPr>
        <p:txBody>
          <a:bodyPr wrap="square" lIns="0" tIns="0" rIns="0" bIns="0" rtlCol="0" anchor="ctr"/>
          <a:lstStyle/>
          <a:p>
            <a:pPr marL="0" indent="0" algn="ctr">
              <a:buNone/>
            </a:pPr>
            <a:r>
              <a:rPr lang="en-US" sz="2600" b="1" dirty="0">
                <a:solidFill>
                  <a:srgbClr val="F96167"/>
                </a:solidFill>
              </a:rPr>
              <a:t>0.681</a:t>
            </a:r>
            <a:endParaRPr lang="en-US" sz="2600" dirty="0"/>
          </a:p>
        </p:txBody>
      </p:sp>
      <p:sp>
        <p:nvSpPr>
          <p:cNvPr id="32" name="Text 30"/>
          <p:cNvSpPr txBox="1"/>
          <p:nvPr/>
        </p:nvSpPr>
        <p:spPr>
          <a:xfrm>
            <a:off x="9509760" y="4116629"/>
            <a:ext cx="2286000" cy="608076"/>
          </a:xfrm>
          <a:prstGeom prst="rect">
            <a:avLst/>
          </a:prstGeom>
          <a:noFill/>
          <a:ln/>
        </p:spPr>
        <p:txBody>
          <a:bodyPr wrap="square" lIns="0" tIns="0" rIns="0" bIns="0" rtlCol="0" anchor="t"/>
          <a:lstStyle/>
          <a:p>
            <a:pPr marL="0" indent="0" algn="ctr">
              <a:buNone/>
            </a:pPr>
            <a:r>
              <a:rPr lang="en-US" sz="1200" dirty="0">
                <a:solidFill>
                  <a:srgbClr val="5B6478"/>
                </a:solidFill>
              </a:rPr>
              <a:t>Best F1-Score (Random Forest)</a:t>
            </a:r>
            <a:endParaRPr lang="en-US" sz="1200" dirty="0"/>
          </a:p>
        </p:txBody>
      </p:sp>
      <p:sp>
        <p:nvSpPr>
          <p:cNvPr id="33" name="Text 31"/>
          <p:cNvSpPr txBox="1"/>
          <p:nvPr/>
        </p:nvSpPr>
        <p:spPr>
          <a:xfrm>
            <a:off x="7040880" y="5074920"/>
            <a:ext cx="4754880" cy="1097280"/>
          </a:xfrm>
          <a:prstGeom prst="rect">
            <a:avLst/>
          </a:prstGeom>
          <a:noFill/>
          <a:ln/>
        </p:spPr>
        <p:txBody>
          <a:bodyPr wrap="square" rtlCol="0" anchor="t"/>
          <a:lstStyle/>
          <a:p>
            <a:pPr marL="0" indent="0">
              <a:buNone/>
            </a:pPr>
            <a:r>
              <a:rPr lang="en-US" sz="1400" dirty="0">
                <a:solidFill>
                  <a:srgbClr val="5B6478"/>
                </a:solidFill>
              </a:rPr>
              <a:t>KPIs: total revenue, customer count, high-value rate, and Accuracy / Precision / Recall / F1 for each model.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Data Source &amp; Collection Process</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6" name="Text 4"/>
          <p:cNvSpPr txBox="1"/>
          <p:nvPr/>
        </p:nvSpPr>
        <p:spPr>
          <a:xfrm>
            <a:off x="548640" y="1188720"/>
            <a:ext cx="6035040" cy="5120640"/>
          </a:xfrm>
          <a:prstGeom prst="rect">
            <a:avLst/>
          </a:prstGeom>
          <a:noFill/>
          <a:ln/>
        </p:spPr>
        <p:txBody>
          <a:bodyPr wrap="square" rtlCol="0" anchor="t"/>
          <a:lstStyle/>
          <a:p>
            <a:pPr marL="342900" indent="-342900">
              <a:spcAft>
                <a:spcPts val="1000"/>
              </a:spcAft>
              <a:buSzPct val="100000"/>
              <a:buChar char="•"/>
            </a:pPr>
            <a:r>
              <a:rPr lang="en-US" sz="1700" dirty="0">
                <a:solidFill>
                  <a:srgbClr val="22283A"/>
                </a:solidFill>
              </a:rPr>
              <a:t>File: online_retail_II.xlsx, an existing operational export supplied with the project</a:t>
            </a:r>
            <a:endParaRPr lang="en-US" sz="1700" dirty="0"/>
          </a:p>
          <a:p>
            <a:pPr marL="342900" indent="-342900">
              <a:spcAft>
                <a:spcPts val="1000"/>
              </a:spcAft>
              <a:buSzPct val="100000"/>
              <a:buChar char="•"/>
            </a:pPr>
            <a:r>
              <a:rPr lang="en-US" sz="1700" dirty="0">
                <a:solidFill>
                  <a:srgbClr val="22283A"/>
                </a:solidFill>
              </a:rPr>
              <a:t>Two sheets with identical structure: Year 2009-2010 and Year 2010-2011</a:t>
            </a:r>
            <a:endParaRPr lang="en-US" sz="1700" dirty="0"/>
          </a:p>
          <a:p>
            <a:pPr marL="342900" indent="-342900">
              <a:spcAft>
                <a:spcPts val="1000"/>
              </a:spcAft>
              <a:buSzPct val="100000"/>
              <a:buChar char="•"/>
            </a:pPr>
            <a:r>
              <a:rPr lang="en-US" sz="1700" dirty="0">
                <a:solidFill>
                  <a:srgbClr val="22283A"/>
                </a:solidFill>
              </a:rPr>
              <a:t>Verified identical columns and types, then merged into one dataset</a:t>
            </a:r>
            <a:endParaRPr lang="en-US" sz="1700" dirty="0"/>
          </a:p>
          <a:p>
            <a:pPr marL="342900" indent="-342900">
              <a:spcAft>
                <a:spcPts val="1000"/>
              </a:spcAft>
              <a:buSzPct val="100000"/>
              <a:buChar char="•"/>
            </a:pPr>
            <a:r>
              <a:rPr lang="en-US" sz="1700" dirty="0">
                <a:solidFill>
                  <a:srgbClr val="22283A"/>
                </a:solidFill>
              </a:rPr>
              <a:t>Date range: 2009-12-01 to 2011-12-09</a:t>
            </a:r>
            <a:endParaRPr lang="en-US" sz="1700" dirty="0"/>
          </a:p>
          <a:p>
            <a:pPr marL="342900" indent="-342900">
              <a:spcAft>
                <a:spcPts val="1000"/>
              </a:spcAft>
              <a:buSzPct val="100000"/>
              <a:buChar char="•"/>
            </a:pPr>
            <a:r>
              <a:rPr lang="en-US" sz="1700" dirty="0">
                <a:solidFill>
                  <a:srgbClr val="22283A"/>
                </a:solidFill>
              </a:rPr>
              <a:t>No data was invented, simulated or self-collected; every figure is computed from the file</a:t>
            </a:r>
            <a:endParaRPr lang="en-US" sz="1700" dirty="0"/>
          </a:p>
          <a:p>
            <a:pPr marL="342900" indent="-342900">
              <a:spcAft>
                <a:spcPts val="1000"/>
              </a:spcAft>
              <a:buSzPct val="100000"/>
              <a:buChar char="•"/>
            </a:pPr>
            <a:r>
              <a:rPr lang="en-US" sz="1700" dirty="0">
                <a:solidFill>
                  <a:srgbClr val="22283A"/>
                </a:solidFill>
              </a:rPr>
              <a:t>Raw file kept untouched in data/raw</a:t>
            </a:r>
            <a:endParaRPr lang="en-US" sz="1700" dirty="0"/>
          </a:p>
        </p:txBody>
      </p:sp>
      <p:sp>
        <p:nvSpPr>
          <p:cNvPr id="7" name="Shape 5"/>
          <p:cNvSpPr/>
          <p:nvPr/>
        </p:nvSpPr>
        <p:spPr>
          <a:xfrm>
            <a:off x="7040880" y="1188720"/>
            <a:ext cx="2286000" cy="1554480"/>
          </a:xfrm>
          <a:prstGeom prst="roundRect">
            <a:avLst>
              <a:gd name="adj" fmla="val 7059"/>
            </a:avLst>
          </a:prstGeom>
          <a:solidFill>
            <a:srgbClr val="FFFFFF"/>
          </a:solidFill>
          <a:ln w="12700">
            <a:solidFill>
              <a:srgbClr val="D5DCEA"/>
            </a:solidFill>
            <a:prstDash val="solid"/>
          </a:ln>
        </p:spPr>
      </p:sp>
      <p:sp>
        <p:nvSpPr>
          <p:cNvPr id="8" name="Text 6"/>
          <p:cNvSpPr txBox="1"/>
          <p:nvPr/>
        </p:nvSpPr>
        <p:spPr>
          <a:xfrm>
            <a:off x="7040880" y="1280160"/>
            <a:ext cx="2286000" cy="854964"/>
          </a:xfrm>
          <a:prstGeom prst="rect">
            <a:avLst/>
          </a:prstGeom>
          <a:noFill/>
          <a:ln/>
        </p:spPr>
        <p:txBody>
          <a:bodyPr wrap="square" lIns="0" tIns="0" rIns="0" bIns="0" rtlCol="0" anchor="ctr"/>
          <a:lstStyle/>
          <a:p>
            <a:pPr marL="0" indent="0" algn="ctr">
              <a:buNone/>
            </a:pPr>
            <a:r>
              <a:rPr lang="en-US" sz="2600" b="1" dirty="0">
                <a:solidFill>
                  <a:srgbClr val="1E2761"/>
                </a:solidFill>
              </a:rPr>
              <a:t>2</a:t>
            </a:r>
            <a:endParaRPr lang="en-US" sz="2600" dirty="0"/>
          </a:p>
        </p:txBody>
      </p:sp>
      <p:sp>
        <p:nvSpPr>
          <p:cNvPr id="9" name="Text 7"/>
          <p:cNvSpPr txBox="1"/>
          <p:nvPr/>
        </p:nvSpPr>
        <p:spPr>
          <a:xfrm>
            <a:off x="7040880" y="2090318"/>
            <a:ext cx="2286000" cy="544068"/>
          </a:xfrm>
          <a:prstGeom prst="rect">
            <a:avLst/>
          </a:prstGeom>
          <a:noFill/>
          <a:ln/>
        </p:spPr>
        <p:txBody>
          <a:bodyPr wrap="square" lIns="0" tIns="0" rIns="0" bIns="0" rtlCol="0" anchor="t"/>
          <a:lstStyle/>
          <a:p>
            <a:pPr marL="0" indent="0" algn="ctr">
              <a:buNone/>
            </a:pPr>
            <a:r>
              <a:rPr lang="en-US" sz="1200" dirty="0">
                <a:solidFill>
                  <a:srgbClr val="5B6478"/>
                </a:solidFill>
              </a:rPr>
              <a:t>Sheets merged</a:t>
            </a:r>
            <a:endParaRPr lang="en-US" sz="1200" dirty="0"/>
          </a:p>
        </p:txBody>
      </p:sp>
      <p:sp>
        <p:nvSpPr>
          <p:cNvPr id="10" name="Shape 8"/>
          <p:cNvSpPr/>
          <p:nvPr/>
        </p:nvSpPr>
        <p:spPr>
          <a:xfrm>
            <a:off x="9509760" y="1188720"/>
            <a:ext cx="2286000" cy="1554480"/>
          </a:xfrm>
          <a:prstGeom prst="roundRect">
            <a:avLst>
              <a:gd name="adj" fmla="val 7059"/>
            </a:avLst>
          </a:prstGeom>
          <a:solidFill>
            <a:srgbClr val="FFFFFF"/>
          </a:solidFill>
          <a:ln w="12700">
            <a:solidFill>
              <a:srgbClr val="D5DCEA"/>
            </a:solidFill>
            <a:prstDash val="solid"/>
          </a:ln>
        </p:spPr>
      </p:sp>
      <p:sp>
        <p:nvSpPr>
          <p:cNvPr id="11" name="Text 9"/>
          <p:cNvSpPr txBox="1"/>
          <p:nvPr/>
        </p:nvSpPr>
        <p:spPr>
          <a:xfrm>
            <a:off x="9509760" y="1280160"/>
            <a:ext cx="2286000" cy="854964"/>
          </a:xfrm>
          <a:prstGeom prst="rect">
            <a:avLst/>
          </a:prstGeom>
          <a:noFill/>
          <a:ln/>
        </p:spPr>
        <p:txBody>
          <a:bodyPr wrap="square" lIns="0" tIns="0" rIns="0" bIns="0" rtlCol="0" anchor="ctr"/>
          <a:lstStyle/>
          <a:p>
            <a:pPr marL="0" indent="0" algn="ctr">
              <a:buNone/>
            </a:pPr>
            <a:r>
              <a:rPr lang="en-US" sz="2600" b="1" dirty="0">
                <a:solidFill>
                  <a:srgbClr val="1E2761"/>
                </a:solidFill>
              </a:rPr>
              <a:t>1,067,371</a:t>
            </a:r>
            <a:endParaRPr lang="en-US" sz="2600" dirty="0"/>
          </a:p>
        </p:txBody>
      </p:sp>
      <p:sp>
        <p:nvSpPr>
          <p:cNvPr id="12" name="Text 10"/>
          <p:cNvSpPr txBox="1"/>
          <p:nvPr/>
        </p:nvSpPr>
        <p:spPr>
          <a:xfrm>
            <a:off x="9509760" y="2090318"/>
            <a:ext cx="2286000" cy="544068"/>
          </a:xfrm>
          <a:prstGeom prst="rect">
            <a:avLst/>
          </a:prstGeom>
          <a:noFill/>
          <a:ln/>
        </p:spPr>
        <p:txBody>
          <a:bodyPr wrap="square" lIns="0" tIns="0" rIns="0" bIns="0" rtlCol="0" anchor="t"/>
          <a:lstStyle/>
          <a:p>
            <a:pPr marL="0" indent="0" algn="ctr">
              <a:buNone/>
            </a:pPr>
            <a:r>
              <a:rPr lang="en-US" sz="1200" dirty="0">
                <a:solidFill>
                  <a:srgbClr val="5B6478"/>
                </a:solidFill>
              </a:rPr>
              <a:t>Rows after merge</a:t>
            </a:r>
            <a:endParaRPr lang="en-US" sz="1200" dirty="0"/>
          </a:p>
        </p:txBody>
      </p:sp>
      <p:sp>
        <p:nvSpPr>
          <p:cNvPr id="13" name="Shape 11"/>
          <p:cNvSpPr/>
          <p:nvPr/>
        </p:nvSpPr>
        <p:spPr>
          <a:xfrm>
            <a:off x="7040880" y="2971800"/>
            <a:ext cx="2286000" cy="1554480"/>
          </a:xfrm>
          <a:prstGeom prst="roundRect">
            <a:avLst>
              <a:gd name="adj" fmla="val 7059"/>
            </a:avLst>
          </a:prstGeom>
          <a:solidFill>
            <a:srgbClr val="FFFFFF"/>
          </a:solidFill>
          <a:ln w="12700">
            <a:solidFill>
              <a:srgbClr val="D5DCEA"/>
            </a:solidFill>
            <a:prstDash val="solid"/>
          </a:ln>
        </p:spPr>
      </p:sp>
      <p:sp>
        <p:nvSpPr>
          <p:cNvPr id="14" name="Text 12"/>
          <p:cNvSpPr txBox="1"/>
          <p:nvPr/>
        </p:nvSpPr>
        <p:spPr>
          <a:xfrm>
            <a:off x="7040880" y="3063240"/>
            <a:ext cx="2286000" cy="854964"/>
          </a:xfrm>
          <a:prstGeom prst="rect">
            <a:avLst/>
          </a:prstGeom>
          <a:noFill/>
          <a:ln/>
        </p:spPr>
        <p:txBody>
          <a:bodyPr wrap="square" lIns="0" tIns="0" rIns="0" bIns="0" rtlCol="0" anchor="ctr"/>
          <a:lstStyle/>
          <a:p>
            <a:pPr marL="0" indent="0" algn="ctr">
              <a:buNone/>
            </a:pPr>
            <a:r>
              <a:rPr lang="en-US" sz="2600" b="1" dirty="0">
                <a:solidFill>
                  <a:srgbClr val="1E2761"/>
                </a:solidFill>
              </a:rPr>
              <a:t>~24</a:t>
            </a:r>
            <a:endParaRPr lang="en-US" sz="2600" dirty="0"/>
          </a:p>
        </p:txBody>
      </p:sp>
      <p:sp>
        <p:nvSpPr>
          <p:cNvPr id="15" name="Text 13"/>
          <p:cNvSpPr txBox="1"/>
          <p:nvPr/>
        </p:nvSpPr>
        <p:spPr>
          <a:xfrm>
            <a:off x="7040880" y="3873398"/>
            <a:ext cx="2286000" cy="544068"/>
          </a:xfrm>
          <a:prstGeom prst="rect">
            <a:avLst/>
          </a:prstGeom>
          <a:noFill/>
          <a:ln/>
        </p:spPr>
        <p:txBody>
          <a:bodyPr wrap="square" lIns="0" tIns="0" rIns="0" bIns="0" rtlCol="0" anchor="t"/>
          <a:lstStyle/>
          <a:p>
            <a:pPr marL="0" indent="0" algn="ctr">
              <a:buNone/>
            </a:pPr>
            <a:r>
              <a:rPr lang="en-US" sz="1200" dirty="0">
                <a:solidFill>
                  <a:srgbClr val="5B6478"/>
                </a:solidFill>
              </a:rPr>
              <a:t>Months of data</a:t>
            </a:r>
            <a:endParaRPr lang="en-US" sz="1200" dirty="0"/>
          </a:p>
        </p:txBody>
      </p:sp>
      <p:sp>
        <p:nvSpPr>
          <p:cNvPr id="16" name="Shape 14"/>
          <p:cNvSpPr/>
          <p:nvPr/>
        </p:nvSpPr>
        <p:spPr>
          <a:xfrm>
            <a:off x="9509760" y="2971800"/>
            <a:ext cx="2286000" cy="1554480"/>
          </a:xfrm>
          <a:prstGeom prst="roundRect">
            <a:avLst>
              <a:gd name="adj" fmla="val 7059"/>
            </a:avLst>
          </a:prstGeom>
          <a:solidFill>
            <a:srgbClr val="FFFFFF"/>
          </a:solidFill>
          <a:ln w="12700">
            <a:solidFill>
              <a:srgbClr val="D5DCEA"/>
            </a:solidFill>
            <a:prstDash val="solid"/>
          </a:ln>
        </p:spPr>
      </p:sp>
      <p:sp>
        <p:nvSpPr>
          <p:cNvPr id="17" name="Text 15"/>
          <p:cNvSpPr txBox="1"/>
          <p:nvPr/>
        </p:nvSpPr>
        <p:spPr>
          <a:xfrm>
            <a:off x="9509760" y="3063240"/>
            <a:ext cx="2286000" cy="854964"/>
          </a:xfrm>
          <a:prstGeom prst="rect">
            <a:avLst/>
          </a:prstGeom>
          <a:noFill/>
          <a:ln/>
        </p:spPr>
        <p:txBody>
          <a:bodyPr wrap="square" lIns="0" tIns="0" rIns="0" bIns="0" rtlCol="0" anchor="ctr"/>
          <a:lstStyle/>
          <a:p>
            <a:pPr marL="0" indent="0" algn="ctr">
              <a:buNone/>
            </a:pPr>
            <a:r>
              <a:rPr lang="en-US" sz="2600" b="1" dirty="0">
                <a:solidFill>
                  <a:srgbClr val="1E2761"/>
                </a:solidFill>
              </a:rPr>
              <a:t>43</a:t>
            </a:r>
            <a:endParaRPr lang="en-US" sz="2600" dirty="0"/>
          </a:p>
        </p:txBody>
      </p:sp>
      <p:sp>
        <p:nvSpPr>
          <p:cNvPr id="18" name="Text 16"/>
          <p:cNvSpPr txBox="1"/>
          <p:nvPr/>
        </p:nvSpPr>
        <p:spPr>
          <a:xfrm>
            <a:off x="9509760" y="3873398"/>
            <a:ext cx="2286000" cy="544068"/>
          </a:xfrm>
          <a:prstGeom prst="rect">
            <a:avLst/>
          </a:prstGeom>
          <a:noFill/>
          <a:ln/>
        </p:spPr>
        <p:txBody>
          <a:bodyPr wrap="square" lIns="0" tIns="0" rIns="0" bIns="0" rtlCol="0" anchor="t"/>
          <a:lstStyle/>
          <a:p>
            <a:pPr marL="0" indent="0" algn="ctr">
              <a:buNone/>
            </a:pPr>
            <a:r>
              <a:rPr lang="en-US" sz="1200" dirty="0">
                <a:solidFill>
                  <a:srgbClr val="5B6478"/>
                </a:solidFill>
              </a:rPr>
              <a:t>Countries</a:t>
            </a:r>
            <a:endParaRPr lang="en-US" sz="1200" dirty="0"/>
          </a:p>
        </p:txBody>
      </p:sp>
      <p:sp>
        <p:nvSpPr>
          <p:cNvPr id="19" name="Shape 17"/>
          <p:cNvSpPr/>
          <p:nvPr/>
        </p:nvSpPr>
        <p:spPr>
          <a:xfrm>
            <a:off x="7040880" y="4754880"/>
            <a:ext cx="4754880" cy="1371600"/>
          </a:xfrm>
          <a:prstGeom prst="roundRect">
            <a:avLst>
              <a:gd name="adj" fmla="val 8000"/>
            </a:avLst>
          </a:prstGeom>
          <a:solidFill>
            <a:srgbClr val="E8EEFB"/>
          </a:solidFill>
          <a:ln w="12700">
            <a:solidFill>
              <a:srgbClr val="D5DCEA"/>
            </a:solidFill>
            <a:prstDash val="solid"/>
          </a:ln>
        </p:spPr>
      </p:sp>
      <p:sp>
        <p:nvSpPr>
          <p:cNvPr id="20" name="Text 18"/>
          <p:cNvSpPr txBox="1"/>
          <p:nvPr/>
        </p:nvSpPr>
        <p:spPr>
          <a:xfrm>
            <a:off x="7178040" y="4800600"/>
            <a:ext cx="4480560" cy="1280160"/>
          </a:xfrm>
          <a:prstGeom prst="rect">
            <a:avLst/>
          </a:prstGeom>
          <a:noFill/>
          <a:ln/>
        </p:spPr>
        <p:txBody>
          <a:bodyPr wrap="square" rtlCol="0" anchor="ctr"/>
          <a:lstStyle/>
          <a:p>
            <a:pPr marL="0" indent="0">
              <a:buNone/>
            </a:pPr>
            <a:r>
              <a:rPr lang="en-US" sz="1300" dirty="0">
                <a:solidFill>
                  <a:srgbClr val="22283A"/>
                </a:solidFill>
              </a:rPr>
              <a:t>The workbook has no built-in citation or license field, so we document only what the file itself shows.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Dataset Overview</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315200" cy="2907792"/>
        </p:xfrm>
        <a:graphic>
          <a:graphicData uri="http://schemas.openxmlformats.org/drawingml/2006/table">
            <a:tbl>
              <a:tblPr/>
              <a:tblGrid>
                <a:gridCol w="1554480"/>
                <a:gridCol w="1005840"/>
                <a:gridCol w="3749040"/>
                <a:gridCol w="1005840"/>
              </a:tblGrid>
              <a:tr h="0">
                <a:tc>
                  <a:txBody>
                    <a:bodyPr/>
                    <a:lstStyle/>
                    <a:p>
                      <a:pPr marL="0" indent="0">
                        <a:buNone/>
                      </a:pPr>
                      <a:r>
                        <a:rPr lang="en-US" sz="1400" b="1" dirty="0">
                          <a:solidFill>
                            <a:srgbClr val="FFFFFF"/>
                          </a:solidFill>
                        </a:rPr>
                        <a:t>Column</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400" b="1" dirty="0">
                          <a:solidFill>
                            <a:srgbClr val="FFFFFF"/>
                          </a:solidFill>
                        </a:rPr>
                        <a:t>Type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400" b="1" dirty="0">
                          <a:solidFill>
                            <a:srgbClr val="FFFFFF"/>
                          </a:solidFill>
                        </a:rPr>
                        <a:t>Meaning</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400" b="1" dirty="0">
                          <a:solidFill>
                            <a:srgbClr val="FFFFFF"/>
                          </a:solidFill>
                        </a:rPr>
                        <a:t>Missing</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r>
              <a:tr h="0">
                <a:tc>
                  <a:txBody>
                    <a:bodyPr/>
                    <a:lstStyle/>
                    <a:p>
                      <a:pPr marL="0" indent="0">
                        <a:buNone/>
                      </a:pPr>
                      <a:r>
                        <a:rPr lang="en-US" sz="1400" dirty="0">
                          <a:solidFill>
                            <a:srgbClr val="22283A"/>
                          </a:solidFill>
                        </a:rPr>
                        <a:t>Invoice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Text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Transaction ID (C = cancel, A = adjust)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0</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StockCode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Text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Product code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0</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Description</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Text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Product name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4,382</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Quantity</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Integer</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Units (negative = cancellation)</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0</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InvoiceDate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Datetime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Date and time of transaction</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0</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Price</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Float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Unit price (GBP)</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0</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Customer ID</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Float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Customer identifier</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243,007</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400" dirty="0">
                          <a:solidFill>
                            <a:srgbClr val="22283A"/>
                          </a:solidFill>
                        </a:rPr>
                        <a:t>Country</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Text</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Customer country</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400" dirty="0">
                          <a:solidFill>
                            <a:srgbClr val="22283A"/>
                          </a:solidFill>
                        </a:rPr>
                        <a:t>0</a:t>
                      </a:r>
                      <a:endParaRPr lang="en-US" sz="14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bl>
          </a:graphicData>
        </a:graphic>
      </p:graphicFrame>
      <p:sp>
        <p:nvSpPr>
          <p:cNvPr id="7" name="Shape 4"/>
          <p:cNvSpPr/>
          <p:nvPr/>
        </p:nvSpPr>
        <p:spPr>
          <a:xfrm>
            <a:off x="8321040" y="1188720"/>
            <a:ext cx="3383280" cy="1463040"/>
          </a:xfrm>
          <a:prstGeom prst="roundRect">
            <a:avLst>
              <a:gd name="adj" fmla="val 7500"/>
            </a:avLst>
          </a:prstGeom>
          <a:solidFill>
            <a:srgbClr val="FFFFFF"/>
          </a:solidFill>
          <a:ln w="12700">
            <a:solidFill>
              <a:srgbClr val="D5DCEA"/>
            </a:solidFill>
            <a:prstDash val="solid"/>
          </a:ln>
        </p:spPr>
      </p:sp>
      <p:sp>
        <p:nvSpPr>
          <p:cNvPr id="8" name="Text 5"/>
          <p:cNvSpPr txBox="1"/>
          <p:nvPr/>
        </p:nvSpPr>
        <p:spPr>
          <a:xfrm>
            <a:off x="8321040" y="1280160"/>
            <a:ext cx="3383280" cy="804672"/>
          </a:xfrm>
          <a:prstGeom prst="rect">
            <a:avLst/>
          </a:prstGeom>
          <a:noFill/>
          <a:ln/>
        </p:spPr>
        <p:txBody>
          <a:bodyPr wrap="square" lIns="0" tIns="0" rIns="0" bIns="0" rtlCol="0" anchor="ctr"/>
          <a:lstStyle/>
          <a:p>
            <a:pPr marL="0" indent="0" algn="ctr">
              <a:buNone/>
            </a:pPr>
            <a:r>
              <a:rPr lang="en-US" sz="2600" b="1" dirty="0">
                <a:solidFill>
                  <a:srgbClr val="1E2761"/>
                </a:solidFill>
              </a:rPr>
              <a:t>53,628</a:t>
            </a:r>
            <a:endParaRPr lang="en-US" sz="2600" dirty="0"/>
          </a:p>
        </p:txBody>
      </p:sp>
      <p:sp>
        <p:nvSpPr>
          <p:cNvPr id="9" name="Text 6"/>
          <p:cNvSpPr txBox="1"/>
          <p:nvPr/>
        </p:nvSpPr>
        <p:spPr>
          <a:xfrm>
            <a:off x="8321040" y="2037283"/>
            <a:ext cx="3383280" cy="512064"/>
          </a:xfrm>
          <a:prstGeom prst="rect">
            <a:avLst/>
          </a:prstGeom>
          <a:noFill/>
          <a:ln/>
        </p:spPr>
        <p:txBody>
          <a:bodyPr wrap="square" lIns="0" tIns="0" rIns="0" bIns="0" rtlCol="0" anchor="t"/>
          <a:lstStyle/>
          <a:p>
            <a:pPr marL="0" indent="0" algn="ctr">
              <a:buNone/>
            </a:pPr>
            <a:r>
              <a:rPr lang="en-US" sz="1200" dirty="0">
                <a:solidFill>
                  <a:srgbClr val="5B6478"/>
                </a:solidFill>
              </a:rPr>
              <a:t>Unique invoices (raw)</a:t>
            </a:r>
            <a:endParaRPr lang="en-US" sz="1200" dirty="0"/>
          </a:p>
        </p:txBody>
      </p:sp>
      <p:sp>
        <p:nvSpPr>
          <p:cNvPr id="10" name="Shape 7"/>
          <p:cNvSpPr/>
          <p:nvPr/>
        </p:nvSpPr>
        <p:spPr>
          <a:xfrm>
            <a:off x="8321040" y="2834640"/>
            <a:ext cx="3383280" cy="1463040"/>
          </a:xfrm>
          <a:prstGeom prst="roundRect">
            <a:avLst>
              <a:gd name="adj" fmla="val 7500"/>
            </a:avLst>
          </a:prstGeom>
          <a:solidFill>
            <a:srgbClr val="FFFFFF"/>
          </a:solidFill>
          <a:ln w="12700">
            <a:solidFill>
              <a:srgbClr val="D5DCEA"/>
            </a:solidFill>
            <a:prstDash val="solid"/>
          </a:ln>
        </p:spPr>
      </p:sp>
      <p:sp>
        <p:nvSpPr>
          <p:cNvPr id="11" name="Text 8"/>
          <p:cNvSpPr txBox="1"/>
          <p:nvPr/>
        </p:nvSpPr>
        <p:spPr>
          <a:xfrm>
            <a:off x="8321040" y="2926080"/>
            <a:ext cx="3383280" cy="804672"/>
          </a:xfrm>
          <a:prstGeom prst="rect">
            <a:avLst/>
          </a:prstGeom>
          <a:noFill/>
          <a:ln/>
        </p:spPr>
        <p:txBody>
          <a:bodyPr wrap="square" lIns="0" tIns="0" rIns="0" bIns="0" rtlCol="0" anchor="ctr"/>
          <a:lstStyle/>
          <a:p>
            <a:pPr marL="0" indent="0" algn="ctr">
              <a:buNone/>
            </a:pPr>
            <a:r>
              <a:rPr lang="en-US" sz="2600" b="1" dirty="0">
                <a:solidFill>
                  <a:srgbClr val="1E2761"/>
                </a:solidFill>
              </a:rPr>
              <a:t>5,942</a:t>
            </a:r>
            <a:endParaRPr lang="en-US" sz="2600" dirty="0"/>
          </a:p>
        </p:txBody>
      </p:sp>
      <p:sp>
        <p:nvSpPr>
          <p:cNvPr id="12" name="Text 9"/>
          <p:cNvSpPr txBox="1"/>
          <p:nvPr/>
        </p:nvSpPr>
        <p:spPr>
          <a:xfrm>
            <a:off x="8321040" y="3683203"/>
            <a:ext cx="3383280" cy="512064"/>
          </a:xfrm>
          <a:prstGeom prst="rect">
            <a:avLst/>
          </a:prstGeom>
          <a:noFill/>
          <a:ln/>
        </p:spPr>
        <p:txBody>
          <a:bodyPr wrap="square" lIns="0" tIns="0" rIns="0" bIns="0" rtlCol="0" anchor="t"/>
          <a:lstStyle/>
          <a:p>
            <a:pPr marL="0" indent="0" algn="ctr">
              <a:buNone/>
            </a:pPr>
            <a:r>
              <a:rPr lang="en-US" sz="1200" dirty="0">
                <a:solidFill>
                  <a:srgbClr val="5B6478"/>
                </a:solidFill>
              </a:rPr>
              <a:t>Unique customers (raw)</a:t>
            </a:r>
            <a:endParaRPr lang="en-US" sz="1200" dirty="0"/>
          </a:p>
        </p:txBody>
      </p:sp>
      <p:sp>
        <p:nvSpPr>
          <p:cNvPr id="13" name="Shape 10"/>
          <p:cNvSpPr/>
          <p:nvPr/>
        </p:nvSpPr>
        <p:spPr>
          <a:xfrm>
            <a:off x="8321040" y="4480560"/>
            <a:ext cx="3383280" cy="1463040"/>
          </a:xfrm>
          <a:prstGeom prst="roundRect">
            <a:avLst>
              <a:gd name="adj" fmla="val 7500"/>
            </a:avLst>
          </a:prstGeom>
          <a:solidFill>
            <a:srgbClr val="FFFFFF"/>
          </a:solidFill>
          <a:ln w="12700">
            <a:solidFill>
              <a:srgbClr val="D5DCEA"/>
            </a:solidFill>
            <a:prstDash val="solid"/>
          </a:ln>
        </p:spPr>
      </p:sp>
      <p:sp>
        <p:nvSpPr>
          <p:cNvPr id="14" name="Text 11"/>
          <p:cNvSpPr txBox="1"/>
          <p:nvPr/>
        </p:nvSpPr>
        <p:spPr>
          <a:xfrm>
            <a:off x="8321040" y="4572000"/>
            <a:ext cx="3383280" cy="804672"/>
          </a:xfrm>
          <a:prstGeom prst="rect">
            <a:avLst/>
          </a:prstGeom>
          <a:noFill/>
          <a:ln/>
        </p:spPr>
        <p:txBody>
          <a:bodyPr wrap="square" lIns="0" tIns="0" rIns="0" bIns="0" rtlCol="0" anchor="ctr"/>
          <a:lstStyle/>
          <a:p>
            <a:pPr marL="0" indent="0" algn="ctr">
              <a:buNone/>
            </a:pPr>
            <a:r>
              <a:rPr lang="en-US" sz="2600" b="1" dirty="0">
                <a:solidFill>
                  <a:srgbClr val="1E2761"/>
                </a:solidFill>
              </a:rPr>
              <a:t>5,305</a:t>
            </a:r>
            <a:endParaRPr lang="en-US" sz="2600" dirty="0"/>
          </a:p>
        </p:txBody>
      </p:sp>
      <p:sp>
        <p:nvSpPr>
          <p:cNvPr id="15" name="Text 12"/>
          <p:cNvSpPr txBox="1"/>
          <p:nvPr/>
        </p:nvSpPr>
        <p:spPr>
          <a:xfrm>
            <a:off x="8321040" y="5329123"/>
            <a:ext cx="3383280" cy="512064"/>
          </a:xfrm>
          <a:prstGeom prst="rect">
            <a:avLst/>
          </a:prstGeom>
          <a:noFill/>
          <a:ln/>
        </p:spPr>
        <p:txBody>
          <a:bodyPr wrap="square" lIns="0" tIns="0" rIns="0" bIns="0" rtlCol="0" anchor="t"/>
          <a:lstStyle/>
          <a:p>
            <a:pPr marL="0" indent="0" algn="ctr">
              <a:buNone/>
            </a:pPr>
            <a:r>
              <a:rPr lang="en-US" sz="1200" dirty="0">
                <a:solidFill>
                  <a:srgbClr val="5B6478"/>
                </a:solidFill>
              </a:rPr>
              <a:t>Unique stock codes (raw)</a:t>
            </a:r>
            <a:endParaRPr lang="en-US" sz="1200" dirty="0"/>
          </a:p>
        </p:txBody>
      </p:sp>
      <p:sp>
        <p:nvSpPr>
          <p:cNvPr id="16" name="Text 13"/>
          <p:cNvSpPr txBox="1"/>
          <p:nvPr/>
        </p:nvSpPr>
        <p:spPr>
          <a:xfrm>
            <a:off x="548640" y="5760720"/>
            <a:ext cx="7315200" cy="640080"/>
          </a:xfrm>
          <a:prstGeom prst="rect">
            <a:avLst/>
          </a:prstGeom>
          <a:noFill/>
          <a:ln/>
        </p:spPr>
        <p:txBody>
          <a:bodyPr wrap="square" rtlCol="0" anchor="ctr"/>
          <a:lstStyle/>
          <a:p>
            <a:pPr marL="0" indent="0">
              <a:buNone/>
            </a:pPr>
            <a:r>
              <a:rPr lang="en-US" sz="1400" i="1" dirty="0">
                <a:solidFill>
                  <a:srgbClr val="5B6478"/>
                </a:solidFill>
              </a:rPr>
              <a:t>Customer ID is missing on about 22.8% of rows; these cannot be linked to a customer.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Data Cleaning</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6" name="Shape 4"/>
          <p:cNvSpPr/>
          <p:nvPr/>
        </p:nvSpPr>
        <p:spPr>
          <a:xfrm>
            <a:off x="548640" y="1188720"/>
            <a:ext cx="5120640" cy="3840480"/>
          </a:xfrm>
          <a:prstGeom prst="roundRect">
            <a:avLst>
              <a:gd name="adj" fmla="val 2857"/>
            </a:avLst>
          </a:prstGeom>
          <a:solidFill>
            <a:srgbClr val="FFFFFF"/>
          </a:solidFill>
          <a:ln w="12700">
            <a:solidFill>
              <a:srgbClr val="D5DCEA"/>
            </a:solidFill>
            <a:prstDash val="solid"/>
          </a:ln>
        </p:spPr>
      </p:sp>
      <p:pic>
        <p:nvPicPr>
          <p:cNvPr id="7" name="Image 0" descr="/home/claude/project/outputs/charts/16_before_after_cleaning.png"/>
          <p:cNvPicPr>
            <a:picLocks noChangeAspect="1"/>
          </p:cNvPicPr>
          <p:nvPr/>
        </p:nvPicPr>
        <p:blipFill>
          <a:blip r:embed="rId3"/>
          <a:stretch>
            <a:fillRect/>
          </a:stretch>
        </p:blipFill>
        <p:spPr>
          <a:xfrm>
            <a:off x="640080" y="1380744"/>
            <a:ext cx="4937760" cy="3456432"/>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35040" y="1188720"/>
          <a:ext cx="5669280" cy="2706624"/>
        </p:xfrm>
        <a:graphic>
          <a:graphicData uri="http://schemas.openxmlformats.org/drawingml/2006/table">
            <a:tbl>
              <a:tblPr/>
              <a:tblGrid>
                <a:gridCol w="4023360"/>
                <a:gridCol w="1645920"/>
              </a:tblGrid>
              <a:tr h="0">
                <a:tc>
                  <a:txBody>
                    <a:bodyPr/>
                    <a:lstStyle/>
                    <a:p>
                      <a:pPr marL="0" indent="0">
                        <a:buNone/>
                      </a:pPr>
                      <a:r>
                        <a:rPr lang="en-US" sz="1500" b="1" dirty="0">
                          <a:solidFill>
                            <a:srgbClr val="FFFFFF"/>
                          </a:solidFill>
                        </a:rPr>
                        <a:t>Rule applied</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500" b="1" dirty="0">
                          <a:solidFill>
                            <a:srgbClr val="FFFFFF"/>
                          </a:solidFill>
                        </a:rPr>
                        <a:t>Rows</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r>
              <a:tr h="0">
                <a:tc>
                  <a:txBody>
                    <a:bodyPr/>
                    <a:lstStyle/>
                    <a:p>
                      <a:pPr marL="0" indent="0">
                        <a:buNone/>
                      </a:pPr>
                      <a:r>
                        <a:rPr lang="en-US" sz="1500" dirty="0">
                          <a:solidFill>
                            <a:srgbClr val="22283A"/>
                          </a:solidFill>
                        </a:rPr>
                        <a:t>Exact duplicates removed</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34,335</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dirty="0">
                          <a:solidFill>
                            <a:srgbClr val="22283A"/>
                          </a:solidFill>
                        </a:rPr>
                        <a:t>Cancelled invoices (flagged)</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19,104</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dirty="0">
                          <a:solidFill>
                            <a:srgbClr val="22283A"/>
                          </a:solidFill>
                        </a:rPr>
                        <a:t>Non-product codes: postage, fees</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5,524</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dirty="0">
                          <a:solidFill>
                            <a:srgbClr val="22283A"/>
                          </a:solidFill>
                        </a:rPr>
                        <a:t>Invalid quantity (&lt;= 0)</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22,496</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dirty="0">
                          <a:solidFill>
                            <a:srgbClr val="22283A"/>
                          </a:solidFill>
                        </a:rPr>
                        <a:t>Invalid price (&lt;= 0)</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6,019</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dirty="0">
                          <a:solidFill>
                            <a:srgbClr val="22283A"/>
                          </a:solidFill>
                        </a:rPr>
                        <a:t>Missing Customer ID (flagged)</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235,151</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b="1" dirty="0">
                          <a:solidFill>
                            <a:srgbClr val="22283A"/>
                          </a:solidFill>
                        </a:rPr>
                        <a:t>Valid completed sales</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c>
                  <a:txBody>
                    <a:bodyPr/>
                    <a:lstStyle/>
                    <a:p>
                      <a:pPr marL="0" indent="0">
                        <a:buNone/>
                      </a:pPr>
                      <a:r>
                        <a:rPr lang="en-US" sz="1500" b="1" dirty="0">
                          <a:solidFill>
                            <a:srgbClr val="22283A"/>
                          </a:solidFill>
                        </a:rPr>
                        <a:t>776,624</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r>
            </a:tbl>
          </a:graphicData>
        </a:graphic>
      </p:graphicFrame>
      <p:sp>
        <p:nvSpPr>
          <p:cNvPr id="9" name="Text 5"/>
          <p:cNvSpPr txBox="1"/>
          <p:nvPr/>
        </p:nvSpPr>
        <p:spPr>
          <a:xfrm>
            <a:off x="548640" y="5303520"/>
            <a:ext cx="11064240" cy="822960"/>
          </a:xfrm>
          <a:prstGeom prst="rect">
            <a:avLst/>
          </a:prstGeom>
          <a:noFill/>
          <a:ln/>
        </p:spPr>
        <p:txBody>
          <a:bodyPr wrap="square" rtlCol="0" anchor="ctr"/>
          <a:lstStyle/>
          <a:p>
            <a:pPr marL="0" indent="0">
              <a:buNone/>
            </a:pPr>
            <a:r>
              <a:rPr lang="en-US" sz="1500" dirty="0">
                <a:solidFill>
                  <a:srgbClr val="5B6478"/>
                </a:solidFill>
              </a:rPr>
              <a:t>Excluded rows are flagged with a reason, not silently deleted. Flag counts are measured after duplicates were removed and can overlap.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Key EDA Findings</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7</a:t>
            </a:r>
            <a:endParaRPr lang="en-US" sz="1600" dirty="0"/>
          </a:p>
        </p:txBody>
      </p:sp>
      <p:sp>
        <p:nvSpPr>
          <p:cNvPr id="6" name="Shape 4"/>
          <p:cNvSpPr/>
          <p:nvPr/>
        </p:nvSpPr>
        <p:spPr>
          <a:xfrm>
            <a:off x="548640" y="1097280"/>
            <a:ext cx="2651760" cy="1051560"/>
          </a:xfrm>
          <a:prstGeom prst="roundRect">
            <a:avLst>
              <a:gd name="adj" fmla="val 10435"/>
            </a:avLst>
          </a:prstGeom>
          <a:solidFill>
            <a:srgbClr val="FFFFFF"/>
          </a:solidFill>
          <a:ln w="12700">
            <a:solidFill>
              <a:srgbClr val="D5DCEA"/>
            </a:solidFill>
            <a:prstDash val="solid"/>
          </a:ln>
        </p:spPr>
      </p:sp>
      <p:sp>
        <p:nvSpPr>
          <p:cNvPr id="7" name="Text 5"/>
          <p:cNvSpPr txBox="1"/>
          <p:nvPr/>
        </p:nvSpPr>
        <p:spPr>
          <a:xfrm>
            <a:off x="548640" y="1188720"/>
            <a:ext cx="2651760" cy="578358"/>
          </a:xfrm>
          <a:prstGeom prst="rect">
            <a:avLst/>
          </a:prstGeom>
          <a:noFill/>
          <a:ln/>
        </p:spPr>
        <p:txBody>
          <a:bodyPr wrap="square" lIns="0" tIns="0" rIns="0" bIns="0" rtlCol="0" anchor="ctr"/>
          <a:lstStyle/>
          <a:p>
            <a:pPr marL="0" indent="0" algn="ctr">
              <a:buNone/>
            </a:pPr>
            <a:r>
              <a:rPr lang="en-US" sz="2600" b="1" dirty="0">
                <a:solidFill>
                  <a:srgbClr val="1E2761"/>
                </a:solidFill>
              </a:rPr>
              <a:t>17,073,078</a:t>
            </a:r>
            <a:endParaRPr lang="en-US" sz="2600" dirty="0"/>
          </a:p>
        </p:txBody>
      </p:sp>
      <p:sp>
        <p:nvSpPr>
          <p:cNvPr id="8" name="Text 6"/>
          <p:cNvSpPr txBox="1"/>
          <p:nvPr/>
        </p:nvSpPr>
        <p:spPr>
          <a:xfrm>
            <a:off x="548640" y="1707185"/>
            <a:ext cx="2651760" cy="368046"/>
          </a:xfrm>
          <a:prstGeom prst="rect">
            <a:avLst/>
          </a:prstGeom>
          <a:noFill/>
          <a:ln/>
        </p:spPr>
        <p:txBody>
          <a:bodyPr wrap="square" lIns="0" tIns="0" rIns="0" bIns="0" rtlCol="0" anchor="t"/>
          <a:lstStyle/>
          <a:p>
            <a:pPr marL="0" indent="0" algn="ctr">
              <a:buNone/>
            </a:pPr>
            <a:r>
              <a:rPr lang="en-US" sz="1200" dirty="0">
                <a:solidFill>
                  <a:srgbClr val="5B6478"/>
                </a:solidFill>
              </a:rPr>
              <a:t>Total revenue (valid sales)</a:t>
            </a:r>
            <a:endParaRPr lang="en-US" sz="1200" dirty="0"/>
          </a:p>
        </p:txBody>
      </p:sp>
      <p:sp>
        <p:nvSpPr>
          <p:cNvPr id="9" name="Shape 7"/>
          <p:cNvSpPr/>
          <p:nvPr/>
        </p:nvSpPr>
        <p:spPr>
          <a:xfrm>
            <a:off x="3383280" y="1097280"/>
            <a:ext cx="2651760" cy="1051560"/>
          </a:xfrm>
          <a:prstGeom prst="roundRect">
            <a:avLst>
              <a:gd name="adj" fmla="val 10435"/>
            </a:avLst>
          </a:prstGeom>
          <a:solidFill>
            <a:srgbClr val="FFFFFF"/>
          </a:solidFill>
          <a:ln w="12700">
            <a:solidFill>
              <a:srgbClr val="D5DCEA"/>
            </a:solidFill>
            <a:prstDash val="solid"/>
          </a:ln>
        </p:spPr>
      </p:sp>
      <p:sp>
        <p:nvSpPr>
          <p:cNvPr id="10" name="Text 8"/>
          <p:cNvSpPr txBox="1"/>
          <p:nvPr/>
        </p:nvSpPr>
        <p:spPr>
          <a:xfrm>
            <a:off x="3383280" y="1188720"/>
            <a:ext cx="2651760" cy="578358"/>
          </a:xfrm>
          <a:prstGeom prst="rect">
            <a:avLst/>
          </a:prstGeom>
          <a:noFill/>
          <a:ln/>
        </p:spPr>
        <p:txBody>
          <a:bodyPr wrap="square" lIns="0" tIns="0" rIns="0" bIns="0" rtlCol="0" anchor="ctr"/>
          <a:lstStyle/>
          <a:p>
            <a:pPr marL="0" indent="0" algn="ctr">
              <a:buNone/>
            </a:pPr>
            <a:r>
              <a:rPr lang="en-US" sz="2600" b="1" dirty="0">
                <a:solidFill>
                  <a:srgbClr val="1E2761"/>
                </a:solidFill>
              </a:rPr>
              <a:t>5,861</a:t>
            </a:r>
            <a:endParaRPr lang="en-US" sz="2600" dirty="0"/>
          </a:p>
        </p:txBody>
      </p:sp>
      <p:sp>
        <p:nvSpPr>
          <p:cNvPr id="11" name="Text 9"/>
          <p:cNvSpPr txBox="1"/>
          <p:nvPr/>
        </p:nvSpPr>
        <p:spPr>
          <a:xfrm>
            <a:off x="3383280" y="1707185"/>
            <a:ext cx="2651760" cy="368046"/>
          </a:xfrm>
          <a:prstGeom prst="rect">
            <a:avLst/>
          </a:prstGeom>
          <a:noFill/>
          <a:ln/>
        </p:spPr>
        <p:txBody>
          <a:bodyPr wrap="square" lIns="0" tIns="0" rIns="0" bIns="0" rtlCol="0" anchor="t"/>
          <a:lstStyle/>
          <a:p>
            <a:pPr marL="0" indent="0" algn="ctr">
              <a:buNone/>
            </a:pPr>
            <a:r>
              <a:rPr lang="en-US" sz="1200" dirty="0">
                <a:solidFill>
                  <a:srgbClr val="5B6478"/>
                </a:solidFill>
              </a:rPr>
              <a:t>Customers</a:t>
            </a:r>
            <a:endParaRPr lang="en-US" sz="1200" dirty="0"/>
          </a:p>
        </p:txBody>
      </p:sp>
      <p:sp>
        <p:nvSpPr>
          <p:cNvPr id="12" name="Shape 10"/>
          <p:cNvSpPr/>
          <p:nvPr/>
        </p:nvSpPr>
        <p:spPr>
          <a:xfrm>
            <a:off x="6217920" y="1097280"/>
            <a:ext cx="2651760" cy="1051560"/>
          </a:xfrm>
          <a:prstGeom prst="roundRect">
            <a:avLst>
              <a:gd name="adj" fmla="val 10435"/>
            </a:avLst>
          </a:prstGeom>
          <a:solidFill>
            <a:srgbClr val="FFFFFF"/>
          </a:solidFill>
          <a:ln w="12700">
            <a:solidFill>
              <a:srgbClr val="D5DCEA"/>
            </a:solidFill>
            <a:prstDash val="solid"/>
          </a:ln>
        </p:spPr>
      </p:sp>
      <p:sp>
        <p:nvSpPr>
          <p:cNvPr id="13" name="Text 11"/>
          <p:cNvSpPr txBox="1"/>
          <p:nvPr/>
        </p:nvSpPr>
        <p:spPr>
          <a:xfrm>
            <a:off x="6217920" y="1188720"/>
            <a:ext cx="2651760" cy="578358"/>
          </a:xfrm>
          <a:prstGeom prst="rect">
            <a:avLst/>
          </a:prstGeom>
          <a:noFill/>
          <a:ln/>
        </p:spPr>
        <p:txBody>
          <a:bodyPr wrap="square" lIns="0" tIns="0" rIns="0" bIns="0" rtlCol="0" anchor="ctr"/>
          <a:lstStyle/>
          <a:p>
            <a:pPr marL="0" indent="0" algn="ctr">
              <a:buNone/>
            </a:pPr>
            <a:r>
              <a:rPr lang="en-US" sz="2600" b="1" dirty="0">
                <a:solidFill>
                  <a:srgbClr val="1E2761"/>
                </a:solidFill>
              </a:rPr>
              <a:t>4,624</a:t>
            </a:r>
            <a:endParaRPr lang="en-US" sz="2600" dirty="0"/>
          </a:p>
        </p:txBody>
      </p:sp>
      <p:sp>
        <p:nvSpPr>
          <p:cNvPr id="14" name="Text 12"/>
          <p:cNvSpPr txBox="1"/>
          <p:nvPr/>
        </p:nvSpPr>
        <p:spPr>
          <a:xfrm>
            <a:off x="6217920" y="1707185"/>
            <a:ext cx="2651760" cy="368046"/>
          </a:xfrm>
          <a:prstGeom prst="rect">
            <a:avLst/>
          </a:prstGeom>
          <a:noFill/>
          <a:ln/>
        </p:spPr>
        <p:txBody>
          <a:bodyPr wrap="square" lIns="0" tIns="0" rIns="0" bIns="0" rtlCol="0" anchor="t"/>
          <a:lstStyle/>
          <a:p>
            <a:pPr marL="0" indent="0" algn="ctr">
              <a:buNone/>
            </a:pPr>
            <a:r>
              <a:rPr lang="en-US" sz="1200" dirty="0">
                <a:solidFill>
                  <a:srgbClr val="5B6478"/>
                </a:solidFill>
              </a:rPr>
              <a:t>Products sold</a:t>
            </a:r>
            <a:endParaRPr lang="en-US" sz="1200" dirty="0"/>
          </a:p>
        </p:txBody>
      </p:sp>
      <p:sp>
        <p:nvSpPr>
          <p:cNvPr id="15" name="Shape 13"/>
          <p:cNvSpPr/>
          <p:nvPr/>
        </p:nvSpPr>
        <p:spPr>
          <a:xfrm>
            <a:off x="9052560" y="1097280"/>
            <a:ext cx="2651760" cy="1051560"/>
          </a:xfrm>
          <a:prstGeom prst="roundRect">
            <a:avLst>
              <a:gd name="adj" fmla="val 10435"/>
            </a:avLst>
          </a:prstGeom>
          <a:solidFill>
            <a:srgbClr val="FFFFFF"/>
          </a:solidFill>
          <a:ln w="12700">
            <a:solidFill>
              <a:srgbClr val="D5DCEA"/>
            </a:solidFill>
            <a:prstDash val="solid"/>
          </a:ln>
        </p:spPr>
      </p:sp>
      <p:sp>
        <p:nvSpPr>
          <p:cNvPr id="16" name="Text 14"/>
          <p:cNvSpPr txBox="1"/>
          <p:nvPr/>
        </p:nvSpPr>
        <p:spPr>
          <a:xfrm>
            <a:off x="9052560" y="1188720"/>
            <a:ext cx="2651760" cy="578358"/>
          </a:xfrm>
          <a:prstGeom prst="rect">
            <a:avLst/>
          </a:prstGeom>
          <a:noFill/>
          <a:ln/>
        </p:spPr>
        <p:txBody>
          <a:bodyPr wrap="square" lIns="0" tIns="0" rIns="0" bIns="0" rtlCol="0" anchor="ctr"/>
          <a:lstStyle/>
          <a:p>
            <a:pPr marL="0" indent="0" algn="ctr">
              <a:buNone/>
            </a:pPr>
            <a:r>
              <a:rPr lang="en-US" sz="2600" b="1" dirty="0">
                <a:solidFill>
                  <a:srgbClr val="F96167"/>
                </a:solidFill>
              </a:rPr>
              <a:t>83.7%</a:t>
            </a:r>
            <a:endParaRPr lang="en-US" sz="2600" dirty="0"/>
          </a:p>
        </p:txBody>
      </p:sp>
      <p:sp>
        <p:nvSpPr>
          <p:cNvPr id="17" name="Text 15"/>
          <p:cNvSpPr txBox="1"/>
          <p:nvPr/>
        </p:nvSpPr>
        <p:spPr>
          <a:xfrm>
            <a:off x="9052560" y="1707185"/>
            <a:ext cx="2651760" cy="368046"/>
          </a:xfrm>
          <a:prstGeom prst="rect">
            <a:avLst/>
          </a:prstGeom>
          <a:noFill/>
          <a:ln/>
        </p:spPr>
        <p:txBody>
          <a:bodyPr wrap="square" lIns="0" tIns="0" rIns="0" bIns="0" rtlCol="0" anchor="t"/>
          <a:lstStyle/>
          <a:p>
            <a:pPr marL="0" indent="0" algn="ctr">
              <a:buNone/>
            </a:pPr>
            <a:r>
              <a:rPr lang="en-US" sz="1200" dirty="0">
                <a:solidFill>
                  <a:srgbClr val="5B6478"/>
                </a:solidFill>
              </a:rPr>
              <a:t>Revenue from the UK</a:t>
            </a:r>
            <a:endParaRPr lang="en-US" sz="1200" dirty="0"/>
          </a:p>
        </p:txBody>
      </p:sp>
      <p:sp>
        <p:nvSpPr>
          <p:cNvPr id="18" name="Shape 16"/>
          <p:cNvSpPr/>
          <p:nvPr/>
        </p:nvSpPr>
        <p:spPr>
          <a:xfrm>
            <a:off x="548640" y="2331720"/>
            <a:ext cx="6126480" cy="2743200"/>
          </a:xfrm>
          <a:prstGeom prst="roundRect">
            <a:avLst>
              <a:gd name="adj" fmla="val 4000"/>
            </a:avLst>
          </a:prstGeom>
          <a:solidFill>
            <a:srgbClr val="FFFFFF"/>
          </a:solidFill>
          <a:ln w="12700">
            <a:solidFill>
              <a:srgbClr val="D5DCEA"/>
            </a:solidFill>
            <a:prstDash val="solid"/>
          </a:ln>
        </p:spPr>
      </p:sp>
      <p:pic>
        <p:nvPicPr>
          <p:cNvPr id="19" name="Image 0" descr="/home/claude/project/outputs/charts/01_monthly_revenue_trend.png"/>
          <p:cNvPicPr>
            <a:picLocks noChangeAspect="1"/>
          </p:cNvPicPr>
          <p:nvPr/>
        </p:nvPicPr>
        <p:blipFill>
          <a:blip r:embed="rId3"/>
          <a:stretch>
            <a:fillRect/>
          </a:stretch>
        </p:blipFill>
        <p:spPr>
          <a:xfrm>
            <a:off x="745236" y="2395728"/>
            <a:ext cx="5733288" cy="2606040"/>
          </a:xfrm>
          <a:prstGeom prst="rect">
            <a:avLst/>
          </a:prstGeom>
        </p:spPr>
      </p:pic>
      <p:sp>
        <p:nvSpPr>
          <p:cNvPr id="20" name="Shape 17"/>
          <p:cNvSpPr/>
          <p:nvPr/>
        </p:nvSpPr>
        <p:spPr>
          <a:xfrm>
            <a:off x="6858000" y="2331720"/>
            <a:ext cx="4846320" cy="2743200"/>
          </a:xfrm>
          <a:prstGeom prst="roundRect">
            <a:avLst>
              <a:gd name="adj" fmla="val 4000"/>
            </a:avLst>
          </a:prstGeom>
          <a:solidFill>
            <a:srgbClr val="FFFFFF"/>
          </a:solidFill>
          <a:ln w="12700">
            <a:solidFill>
              <a:srgbClr val="D5DCEA"/>
            </a:solidFill>
            <a:prstDash val="solid"/>
          </a:ln>
        </p:spPr>
      </p:sp>
      <p:pic>
        <p:nvPicPr>
          <p:cNvPr id="21" name="Image 1" descr="/home/claude/project/outputs/charts/03_top10_countries_revenue.png"/>
          <p:cNvPicPr>
            <a:picLocks noChangeAspect="1"/>
          </p:cNvPicPr>
          <p:nvPr/>
        </p:nvPicPr>
        <p:blipFill>
          <a:blip r:embed="rId4"/>
          <a:stretch>
            <a:fillRect/>
          </a:stretch>
        </p:blipFill>
        <p:spPr>
          <a:xfrm>
            <a:off x="7109460" y="2395728"/>
            <a:ext cx="4343400" cy="2606040"/>
          </a:xfrm>
          <a:prstGeom prst="rect">
            <a:avLst/>
          </a:prstGeom>
        </p:spPr>
      </p:pic>
      <p:sp>
        <p:nvSpPr>
          <p:cNvPr id="22" name="Text 18"/>
          <p:cNvSpPr txBox="1"/>
          <p:nvPr/>
        </p:nvSpPr>
        <p:spPr>
          <a:xfrm>
            <a:off x="548640" y="5257800"/>
            <a:ext cx="11155680" cy="1280160"/>
          </a:xfrm>
          <a:prstGeom prst="rect">
            <a:avLst/>
          </a:prstGeom>
          <a:noFill/>
          <a:ln/>
        </p:spPr>
        <p:txBody>
          <a:bodyPr wrap="square" rtlCol="0" anchor="t"/>
          <a:lstStyle/>
          <a:p>
            <a:pPr marL="342900" indent="-342900">
              <a:spcAft>
                <a:spcPts val="1000"/>
              </a:spcAft>
              <a:buSzPct val="100000"/>
              <a:buChar char="•"/>
            </a:pPr>
            <a:r>
              <a:rPr lang="en-US" sz="1600" dirty="0">
                <a:solidFill>
                  <a:srgbClr val="22283A"/>
                </a:solidFill>
              </a:rPr>
              <a:t>Revenue is strongly seasonal and peaks around October and November</a:t>
            </a:r>
            <a:endParaRPr lang="en-US" sz="1600" dirty="0"/>
          </a:p>
          <a:p>
            <a:pPr marL="342900" indent="-342900">
              <a:spcAft>
                <a:spcPts val="1000"/>
              </a:spcAft>
              <a:buSzPct val="100000"/>
              <a:buChar char="•"/>
            </a:pPr>
            <a:r>
              <a:rPr lang="en-US" sz="1600" dirty="0">
                <a:solidFill>
                  <a:srgbClr val="22283A"/>
                </a:solidFill>
              </a:rPr>
              <a:t>The business depends heavily on the United Kingdom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Matplotlib Visualizations</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8</a:t>
            </a:r>
            <a:endParaRPr lang="en-US" sz="1600" dirty="0"/>
          </a:p>
        </p:txBody>
      </p:sp>
      <p:sp>
        <p:nvSpPr>
          <p:cNvPr id="6" name="Shape 4"/>
          <p:cNvSpPr/>
          <p:nvPr/>
        </p:nvSpPr>
        <p:spPr>
          <a:xfrm>
            <a:off x="548640" y="1097280"/>
            <a:ext cx="2103120" cy="2468880"/>
          </a:xfrm>
          <a:prstGeom prst="roundRect">
            <a:avLst>
              <a:gd name="adj" fmla="val 5217"/>
            </a:avLst>
          </a:prstGeom>
          <a:solidFill>
            <a:srgbClr val="FFFFFF"/>
          </a:solidFill>
          <a:ln w="12700">
            <a:solidFill>
              <a:srgbClr val="D5DCEA"/>
            </a:solidFill>
            <a:prstDash val="solid"/>
          </a:ln>
        </p:spPr>
      </p:sp>
      <p:pic>
        <p:nvPicPr>
          <p:cNvPr id="7" name="Image 0" descr="/home/claude/project/outputs/charts/02_top10_products_revenue.png"/>
          <p:cNvPicPr>
            <a:picLocks noChangeAspect="1"/>
          </p:cNvPicPr>
          <p:nvPr/>
        </p:nvPicPr>
        <p:blipFill>
          <a:blip r:embed="rId3"/>
          <a:stretch>
            <a:fillRect/>
          </a:stretch>
        </p:blipFill>
        <p:spPr>
          <a:xfrm>
            <a:off x="603504" y="1486814"/>
            <a:ext cx="1993392" cy="1196035"/>
          </a:xfrm>
          <a:prstGeom prst="rect">
            <a:avLst/>
          </a:prstGeom>
        </p:spPr>
      </p:pic>
      <p:sp>
        <p:nvSpPr>
          <p:cNvPr id="8" name="Text 5"/>
          <p:cNvSpPr txBox="1"/>
          <p:nvPr/>
        </p:nvSpPr>
        <p:spPr>
          <a:xfrm>
            <a:off x="548640" y="306324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Top 10 products</a:t>
            </a:r>
            <a:endParaRPr lang="en-US" sz="1200" dirty="0"/>
          </a:p>
        </p:txBody>
      </p:sp>
      <p:sp>
        <p:nvSpPr>
          <p:cNvPr id="9" name="Shape 6"/>
          <p:cNvSpPr/>
          <p:nvPr/>
        </p:nvSpPr>
        <p:spPr>
          <a:xfrm>
            <a:off x="2793492" y="1097280"/>
            <a:ext cx="2103120" cy="2468880"/>
          </a:xfrm>
          <a:prstGeom prst="roundRect">
            <a:avLst>
              <a:gd name="adj" fmla="val 5217"/>
            </a:avLst>
          </a:prstGeom>
          <a:solidFill>
            <a:srgbClr val="FFFFFF"/>
          </a:solidFill>
          <a:ln w="12700">
            <a:solidFill>
              <a:srgbClr val="D5DCEA"/>
            </a:solidFill>
            <a:prstDash val="solid"/>
          </a:ln>
        </p:spPr>
      </p:sp>
      <p:pic>
        <p:nvPicPr>
          <p:cNvPr id="10" name="Image 1" descr="/home/claude/project/outputs/charts/04_order_value_distribution.png"/>
          <p:cNvPicPr>
            <a:picLocks noChangeAspect="1"/>
          </p:cNvPicPr>
          <p:nvPr/>
        </p:nvPicPr>
        <p:blipFill>
          <a:blip r:embed="rId4"/>
          <a:stretch>
            <a:fillRect/>
          </a:stretch>
        </p:blipFill>
        <p:spPr>
          <a:xfrm>
            <a:off x="2848356" y="1531112"/>
            <a:ext cx="1993392" cy="1107440"/>
          </a:xfrm>
          <a:prstGeom prst="rect">
            <a:avLst/>
          </a:prstGeom>
        </p:spPr>
      </p:pic>
      <p:sp>
        <p:nvSpPr>
          <p:cNvPr id="11" name="Text 7"/>
          <p:cNvSpPr txBox="1"/>
          <p:nvPr/>
        </p:nvSpPr>
        <p:spPr>
          <a:xfrm>
            <a:off x="2793492" y="306324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Order value</a:t>
            </a:r>
            <a:endParaRPr lang="en-US" sz="1200" dirty="0"/>
          </a:p>
        </p:txBody>
      </p:sp>
      <p:sp>
        <p:nvSpPr>
          <p:cNvPr id="12" name="Shape 8"/>
          <p:cNvSpPr/>
          <p:nvPr/>
        </p:nvSpPr>
        <p:spPr>
          <a:xfrm>
            <a:off x="5038344" y="1097280"/>
            <a:ext cx="2103120" cy="2468880"/>
          </a:xfrm>
          <a:prstGeom prst="roundRect">
            <a:avLst>
              <a:gd name="adj" fmla="val 5217"/>
            </a:avLst>
          </a:prstGeom>
          <a:solidFill>
            <a:srgbClr val="FFFFFF"/>
          </a:solidFill>
          <a:ln w="12700">
            <a:solidFill>
              <a:srgbClr val="D5DCEA"/>
            </a:solidFill>
            <a:prstDash val="solid"/>
          </a:ln>
        </p:spPr>
      </p:sp>
      <p:pic>
        <p:nvPicPr>
          <p:cNvPr id="13" name="Image 2" descr="/home/claude/project/outputs/charts/05_customer_spend_distribution.png"/>
          <p:cNvPicPr>
            <a:picLocks noChangeAspect="1"/>
          </p:cNvPicPr>
          <p:nvPr/>
        </p:nvPicPr>
        <p:blipFill>
          <a:blip r:embed="rId5"/>
          <a:stretch>
            <a:fillRect/>
          </a:stretch>
        </p:blipFill>
        <p:spPr>
          <a:xfrm>
            <a:off x="5093208" y="1531112"/>
            <a:ext cx="1993392" cy="1107440"/>
          </a:xfrm>
          <a:prstGeom prst="rect">
            <a:avLst/>
          </a:prstGeom>
        </p:spPr>
      </p:pic>
      <p:sp>
        <p:nvSpPr>
          <p:cNvPr id="14" name="Text 9"/>
          <p:cNvSpPr txBox="1"/>
          <p:nvPr/>
        </p:nvSpPr>
        <p:spPr>
          <a:xfrm>
            <a:off x="5038344" y="306324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Customer spend</a:t>
            </a:r>
            <a:endParaRPr lang="en-US" sz="1200" dirty="0"/>
          </a:p>
        </p:txBody>
      </p:sp>
      <p:sp>
        <p:nvSpPr>
          <p:cNvPr id="15" name="Shape 10"/>
          <p:cNvSpPr/>
          <p:nvPr/>
        </p:nvSpPr>
        <p:spPr>
          <a:xfrm>
            <a:off x="7283196" y="1097280"/>
            <a:ext cx="2103120" cy="2468880"/>
          </a:xfrm>
          <a:prstGeom prst="roundRect">
            <a:avLst>
              <a:gd name="adj" fmla="val 5217"/>
            </a:avLst>
          </a:prstGeom>
          <a:solidFill>
            <a:srgbClr val="FFFFFF"/>
          </a:solidFill>
          <a:ln w="12700">
            <a:solidFill>
              <a:srgbClr val="D5DCEA"/>
            </a:solidFill>
            <a:prstDash val="solid"/>
          </a:ln>
        </p:spPr>
      </p:sp>
      <p:pic>
        <p:nvPicPr>
          <p:cNvPr id="16" name="Image 3" descr="/home/claude/project/outputs/charts/06_quantity_boxplot.png"/>
          <p:cNvPicPr>
            <a:picLocks noChangeAspect="1"/>
          </p:cNvPicPr>
          <p:nvPr/>
        </p:nvPicPr>
        <p:blipFill>
          <a:blip r:embed="rId6"/>
          <a:stretch>
            <a:fillRect/>
          </a:stretch>
        </p:blipFill>
        <p:spPr>
          <a:xfrm>
            <a:off x="7338060" y="1461897"/>
            <a:ext cx="1993392" cy="1245870"/>
          </a:xfrm>
          <a:prstGeom prst="rect">
            <a:avLst/>
          </a:prstGeom>
        </p:spPr>
      </p:pic>
      <p:sp>
        <p:nvSpPr>
          <p:cNvPr id="17" name="Text 11"/>
          <p:cNvSpPr txBox="1"/>
          <p:nvPr/>
        </p:nvSpPr>
        <p:spPr>
          <a:xfrm>
            <a:off x="7283196" y="306324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Quantity per line</a:t>
            </a:r>
            <a:endParaRPr lang="en-US" sz="1200" dirty="0"/>
          </a:p>
        </p:txBody>
      </p:sp>
      <p:sp>
        <p:nvSpPr>
          <p:cNvPr id="18" name="Shape 12"/>
          <p:cNvSpPr/>
          <p:nvPr/>
        </p:nvSpPr>
        <p:spPr>
          <a:xfrm>
            <a:off x="9528048" y="1097280"/>
            <a:ext cx="2103120" cy="2468880"/>
          </a:xfrm>
          <a:prstGeom prst="roundRect">
            <a:avLst>
              <a:gd name="adj" fmla="val 5217"/>
            </a:avLst>
          </a:prstGeom>
          <a:solidFill>
            <a:srgbClr val="FFFFFF"/>
          </a:solidFill>
          <a:ln w="12700">
            <a:solidFill>
              <a:srgbClr val="D5DCEA"/>
            </a:solidFill>
            <a:prstDash val="solid"/>
          </a:ln>
        </p:spPr>
      </p:sp>
      <p:pic>
        <p:nvPicPr>
          <p:cNvPr id="19" name="Image 4" descr="/home/claude/project/outputs/charts/07_revenue_vs_quantity_scatter.png"/>
          <p:cNvPicPr>
            <a:picLocks noChangeAspect="1"/>
          </p:cNvPicPr>
          <p:nvPr/>
        </p:nvPicPr>
        <p:blipFill>
          <a:blip r:embed="rId7"/>
          <a:stretch>
            <a:fillRect/>
          </a:stretch>
        </p:blipFill>
        <p:spPr>
          <a:xfrm>
            <a:off x="9582912" y="1337310"/>
            <a:ext cx="1993392" cy="1495044"/>
          </a:xfrm>
          <a:prstGeom prst="rect">
            <a:avLst/>
          </a:prstGeom>
        </p:spPr>
      </p:pic>
      <p:sp>
        <p:nvSpPr>
          <p:cNvPr id="20" name="Text 13"/>
          <p:cNvSpPr txBox="1"/>
          <p:nvPr/>
        </p:nvSpPr>
        <p:spPr>
          <a:xfrm>
            <a:off x="9528048" y="306324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Revenue vs quantity</a:t>
            </a:r>
            <a:endParaRPr lang="en-US" sz="1200" dirty="0"/>
          </a:p>
        </p:txBody>
      </p:sp>
      <p:sp>
        <p:nvSpPr>
          <p:cNvPr id="21" name="Shape 14"/>
          <p:cNvSpPr/>
          <p:nvPr/>
        </p:nvSpPr>
        <p:spPr>
          <a:xfrm>
            <a:off x="548640" y="3794760"/>
            <a:ext cx="2103120" cy="2468880"/>
          </a:xfrm>
          <a:prstGeom prst="roundRect">
            <a:avLst>
              <a:gd name="adj" fmla="val 5217"/>
            </a:avLst>
          </a:prstGeom>
          <a:solidFill>
            <a:srgbClr val="FFFFFF"/>
          </a:solidFill>
          <a:ln w="12700">
            <a:solidFill>
              <a:srgbClr val="D5DCEA"/>
            </a:solidFill>
            <a:prstDash val="solid"/>
          </a:ln>
        </p:spPr>
      </p:sp>
      <p:pic>
        <p:nvPicPr>
          <p:cNvPr id="22" name="Image 5" descr="/home/claude/project/outputs/charts/08_monthly_order_count.png"/>
          <p:cNvPicPr>
            <a:picLocks noChangeAspect="1"/>
          </p:cNvPicPr>
          <p:nvPr/>
        </p:nvPicPr>
        <p:blipFill>
          <a:blip r:embed="rId8"/>
          <a:stretch>
            <a:fillRect/>
          </a:stretch>
        </p:blipFill>
        <p:spPr>
          <a:xfrm>
            <a:off x="603504" y="4329268"/>
            <a:ext cx="1993392" cy="906087"/>
          </a:xfrm>
          <a:prstGeom prst="rect">
            <a:avLst/>
          </a:prstGeom>
        </p:spPr>
      </p:pic>
      <p:sp>
        <p:nvSpPr>
          <p:cNvPr id="23" name="Text 15"/>
          <p:cNvSpPr txBox="1"/>
          <p:nvPr/>
        </p:nvSpPr>
        <p:spPr>
          <a:xfrm>
            <a:off x="548640" y="576072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Monthly orders</a:t>
            </a:r>
            <a:endParaRPr lang="en-US" sz="1200" dirty="0"/>
          </a:p>
        </p:txBody>
      </p:sp>
      <p:sp>
        <p:nvSpPr>
          <p:cNvPr id="24" name="Shape 16"/>
          <p:cNvSpPr/>
          <p:nvPr/>
        </p:nvSpPr>
        <p:spPr>
          <a:xfrm>
            <a:off x="2793492" y="3794760"/>
            <a:ext cx="2103120" cy="2468880"/>
          </a:xfrm>
          <a:prstGeom prst="roundRect">
            <a:avLst>
              <a:gd name="adj" fmla="val 5217"/>
            </a:avLst>
          </a:prstGeom>
          <a:solidFill>
            <a:srgbClr val="FFFFFF"/>
          </a:solidFill>
          <a:ln w="12700">
            <a:solidFill>
              <a:srgbClr val="D5DCEA"/>
            </a:solidFill>
            <a:prstDash val="solid"/>
          </a:ln>
        </p:spPr>
      </p:sp>
      <p:pic>
        <p:nvPicPr>
          <p:cNvPr id="25" name="Image 6" descr="/home/claude/project/outputs/charts/09_revenue_by_day_of_week.png"/>
          <p:cNvPicPr>
            <a:picLocks noChangeAspect="1"/>
          </p:cNvPicPr>
          <p:nvPr/>
        </p:nvPicPr>
        <p:blipFill>
          <a:blip r:embed="rId9"/>
          <a:stretch>
            <a:fillRect/>
          </a:stretch>
        </p:blipFill>
        <p:spPr>
          <a:xfrm>
            <a:off x="2848356" y="4228592"/>
            <a:ext cx="1993392" cy="1107440"/>
          </a:xfrm>
          <a:prstGeom prst="rect">
            <a:avLst/>
          </a:prstGeom>
        </p:spPr>
      </p:pic>
      <p:sp>
        <p:nvSpPr>
          <p:cNvPr id="26" name="Text 17"/>
          <p:cNvSpPr txBox="1"/>
          <p:nvPr/>
        </p:nvSpPr>
        <p:spPr>
          <a:xfrm>
            <a:off x="2793492" y="576072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Sales by weekday</a:t>
            </a:r>
            <a:endParaRPr lang="en-US" sz="1200" dirty="0"/>
          </a:p>
        </p:txBody>
      </p:sp>
      <p:sp>
        <p:nvSpPr>
          <p:cNvPr id="27" name="Shape 18"/>
          <p:cNvSpPr/>
          <p:nvPr/>
        </p:nvSpPr>
        <p:spPr>
          <a:xfrm>
            <a:off x="5038344" y="3794760"/>
            <a:ext cx="2103120" cy="2468880"/>
          </a:xfrm>
          <a:prstGeom prst="roundRect">
            <a:avLst>
              <a:gd name="adj" fmla="val 5217"/>
            </a:avLst>
          </a:prstGeom>
          <a:solidFill>
            <a:srgbClr val="FFFFFF"/>
          </a:solidFill>
          <a:ln w="12700">
            <a:solidFill>
              <a:srgbClr val="D5DCEA"/>
            </a:solidFill>
            <a:prstDash val="solid"/>
          </a:ln>
        </p:spPr>
      </p:sp>
      <p:pic>
        <p:nvPicPr>
          <p:cNvPr id="28" name="Image 7" descr="/home/claude/project/outputs/charts/10_revenue_by_hour.png"/>
          <p:cNvPicPr>
            <a:picLocks noChangeAspect="1"/>
          </p:cNvPicPr>
          <p:nvPr/>
        </p:nvPicPr>
        <p:blipFill>
          <a:blip r:embed="rId10"/>
          <a:stretch>
            <a:fillRect/>
          </a:stretch>
        </p:blipFill>
        <p:spPr>
          <a:xfrm>
            <a:off x="5093208" y="4283964"/>
            <a:ext cx="1993392" cy="996696"/>
          </a:xfrm>
          <a:prstGeom prst="rect">
            <a:avLst/>
          </a:prstGeom>
        </p:spPr>
      </p:pic>
      <p:sp>
        <p:nvSpPr>
          <p:cNvPr id="29" name="Text 19"/>
          <p:cNvSpPr txBox="1"/>
          <p:nvPr/>
        </p:nvSpPr>
        <p:spPr>
          <a:xfrm>
            <a:off x="5038344" y="576072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Sales by hour</a:t>
            </a:r>
            <a:endParaRPr lang="en-US" sz="1200" dirty="0"/>
          </a:p>
        </p:txBody>
      </p:sp>
      <p:sp>
        <p:nvSpPr>
          <p:cNvPr id="30" name="Shape 20"/>
          <p:cNvSpPr/>
          <p:nvPr/>
        </p:nvSpPr>
        <p:spPr>
          <a:xfrm>
            <a:off x="7283196" y="3794760"/>
            <a:ext cx="2103120" cy="2468880"/>
          </a:xfrm>
          <a:prstGeom prst="roundRect">
            <a:avLst>
              <a:gd name="adj" fmla="val 5217"/>
            </a:avLst>
          </a:prstGeom>
          <a:solidFill>
            <a:srgbClr val="FFFFFF"/>
          </a:solidFill>
          <a:ln w="12700">
            <a:solidFill>
              <a:srgbClr val="D5DCEA"/>
            </a:solidFill>
            <a:prstDash val="solid"/>
          </a:ln>
        </p:spPr>
      </p:sp>
      <p:pic>
        <p:nvPicPr>
          <p:cNvPr id="31" name="Image 8" descr="/home/claude/project/outputs/charts/11_top10_customers.png"/>
          <p:cNvPicPr>
            <a:picLocks noChangeAspect="1"/>
          </p:cNvPicPr>
          <p:nvPr/>
        </p:nvPicPr>
        <p:blipFill>
          <a:blip r:embed="rId11"/>
          <a:stretch>
            <a:fillRect/>
          </a:stretch>
        </p:blipFill>
        <p:spPr>
          <a:xfrm>
            <a:off x="7338060" y="4184294"/>
            <a:ext cx="1993392" cy="1196035"/>
          </a:xfrm>
          <a:prstGeom prst="rect">
            <a:avLst/>
          </a:prstGeom>
        </p:spPr>
      </p:pic>
      <p:sp>
        <p:nvSpPr>
          <p:cNvPr id="32" name="Text 21"/>
          <p:cNvSpPr txBox="1"/>
          <p:nvPr/>
        </p:nvSpPr>
        <p:spPr>
          <a:xfrm>
            <a:off x="7283196" y="576072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Top 10 customers</a:t>
            </a:r>
            <a:endParaRPr lang="en-US" sz="1200" dirty="0"/>
          </a:p>
        </p:txBody>
      </p:sp>
      <p:sp>
        <p:nvSpPr>
          <p:cNvPr id="33" name="Shape 22"/>
          <p:cNvSpPr/>
          <p:nvPr/>
        </p:nvSpPr>
        <p:spPr>
          <a:xfrm>
            <a:off x="9528048" y="3794760"/>
            <a:ext cx="2103120" cy="2468880"/>
          </a:xfrm>
          <a:prstGeom prst="roundRect">
            <a:avLst>
              <a:gd name="adj" fmla="val 5217"/>
            </a:avLst>
          </a:prstGeom>
          <a:solidFill>
            <a:srgbClr val="FFFFFF"/>
          </a:solidFill>
          <a:ln w="12700">
            <a:solidFill>
              <a:srgbClr val="D5DCEA"/>
            </a:solidFill>
            <a:prstDash val="solid"/>
          </a:ln>
        </p:spPr>
      </p:sp>
      <p:pic>
        <p:nvPicPr>
          <p:cNvPr id="34" name="Image 9" descr="/home/claude/project/outputs/charts/12_highvalue_share_pie.png"/>
          <p:cNvPicPr>
            <a:picLocks noChangeAspect="1"/>
          </p:cNvPicPr>
          <p:nvPr/>
        </p:nvPicPr>
        <p:blipFill>
          <a:blip r:embed="rId12"/>
          <a:stretch>
            <a:fillRect/>
          </a:stretch>
        </p:blipFill>
        <p:spPr>
          <a:xfrm>
            <a:off x="9665208" y="3867912"/>
            <a:ext cx="1828800" cy="1828800"/>
          </a:xfrm>
          <a:prstGeom prst="rect">
            <a:avLst/>
          </a:prstGeom>
        </p:spPr>
      </p:pic>
      <p:sp>
        <p:nvSpPr>
          <p:cNvPr id="35" name="Text 23"/>
          <p:cNvSpPr txBox="1"/>
          <p:nvPr/>
        </p:nvSpPr>
        <p:spPr>
          <a:xfrm>
            <a:off x="9528048" y="5760720"/>
            <a:ext cx="2103120" cy="411480"/>
          </a:xfrm>
          <a:prstGeom prst="rect">
            <a:avLst/>
          </a:prstGeom>
          <a:noFill/>
          <a:ln/>
        </p:spPr>
        <p:txBody>
          <a:bodyPr wrap="square" lIns="0" tIns="0" rIns="0" bIns="0" rtlCol="0" anchor="ctr"/>
          <a:lstStyle/>
          <a:p>
            <a:pPr marL="0" indent="0" algn="ctr">
              <a:buNone/>
            </a:pPr>
            <a:r>
              <a:rPr lang="en-US" sz="1200" b="1" dirty="0">
                <a:solidFill>
                  <a:srgbClr val="1E2761"/>
                </a:solidFill>
              </a:rPr>
              <a:t>High-value share</a:t>
            </a:r>
            <a:endParaRPr lang="en-US" sz="1200" dirty="0"/>
          </a:p>
        </p:txBody>
      </p:sp>
      <p:sp>
        <p:nvSpPr>
          <p:cNvPr id="36" name="Text 24"/>
          <p:cNvSpPr txBox="1"/>
          <p:nvPr/>
        </p:nvSpPr>
        <p:spPr>
          <a:xfrm>
            <a:off x="548640" y="6400800"/>
            <a:ext cx="11064240" cy="365760"/>
          </a:xfrm>
          <a:prstGeom prst="rect">
            <a:avLst/>
          </a:prstGeom>
          <a:noFill/>
          <a:ln/>
        </p:spPr>
        <p:txBody>
          <a:bodyPr wrap="square" lIns="0" tIns="0" rIns="0" bIns="0" rtlCol="0" anchor="ctr"/>
          <a:lstStyle/>
          <a:p>
            <a:pPr marL="0" indent="0">
              <a:buNone/>
            </a:pPr>
            <a:r>
              <a:rPr lang="en-US" sz="1100" i="1" dirty="0">
                <a:solidFill>
                  <a:srgbClr val="5B6478"/>
                </a:solidFill>
              </a:rPr>
              <a:t>Ten charts shown here, plus the revenue trend and country charts on slide 7. Every chart has a title, axis labels and an interpretation in Notebook 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ML Target, Features &amp; Methodology</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9</a:t>
            </a:r>
            <a:endParaRPr lang="en-US" sz="1600" dirty="0"/>
          </a:p>
        </p:txBody>
      </p:sp>
      <p:sp>
        <p:nvSpPr>
          <p:cNvPr id="6" name="Shape 4"/>
          <p:cNvSpPr/>
          <p:nvPr/>
        </p:nvSpPr>
        <p:spPr>
          <a:xfrm>
            <a:off x="548640" y="1143000"/>
            <a:ext cx="6766560" cy="2926080"/>
          </a:xfrm>
          <a:prstGeom prst="roundRect">
            <a:avLst>
              <a:gd name="adj" fmla="val 3750"/>
            </a:avLst>
          </a:prstGeom>
          <a:solidFill>
            <a:srgbClr val="FFFFFF"/>
          </a:solidFill>
          <a:ln w="12700">
            <a:solidFill>
              <a:srgbClr val="D5DCEA"/>
            </a:solidFill>
            <a:prstDash val="solid"/>
          </a:ln>
        </p:spPr>
      </p:sp>
      <p:pic>
        <p:nvPicPr>
          <p:cNvPr id="7" name="Image 0" descr="/home/claude/project/outputs/charts/17_timeline_split.png"/>
          <p:cNvPicPr>
            <a:picLocks noChangeAspect="1"/>
          </p:cNvPicPr>
          <p:nvPr/>
        </p:nvPicPr>
        <p:blipFill>
          <a:blip r:embed="rId3"/>
          <a:stretch>
            <a:fillRect/>
          </a:stretch>
        </p:blipFill>
        <p:spPr>
          <a:xfrm>
            <a:off x="640080" y="1289304"/>
            <a:ext cx="6583680" cy="2633472"/>
          </a:xfrm>
          <a:prstGeom prst="rect">
            <a:avLst/>
          </a:prstGeom>
        </p:spPr>
      </p:pic>
      <p:sp>
        <p:nvSpPr>
          <p:cNvPr id="8" name="Text 5"/>
          <p:cNvSpPr txBox="1"/>
          <p:nvPr/>
        </p:nvSpPr>
        <p:spPr>
          <a:xfrm>
            <a:off x="548640" y="4297680"/>
            <a:ext cx="6766560" cy="2194560"/>
          </a:xfrm>
          <a:prstGeom prst="rect">
            <a:avLst/>
          </a:prstGeom>
          <a:noFill/>
          <a:ln/>
        </p:spPr>
        <p:txBody>
          <a:bodyPr wrap="square" rtlCol="0" anchor="t"/>
          <a:lstStyle/>
          <a:p>
            <a:pPr marL="342900" indent="-342900">
              <a:spcAft>
                <a:spcPts val="1000"/>
              </a:spcAft>
              <a:buSzPct val="100000"/>
              <a:buChar char="•"/>
            </a:pPr>
            <a:r>
              <a:rPr lang="en-US" sz="1600" dirty="0">
                <a:solidFill>
                  <a:srgbClr val="22283A"/>
                </a:solidFill>
              </a:rPr>
              <a:t>Label HighValue = 1 if target-period spend &gt;= 75th percentile (threshold 1,268.98)</a:t>
            </a:r>
            <a:endParaRPr lang="en-US" sz="1600" dirty="0"/>
          </a:p>
          <a:p>
            <a:pPr marL="342900" indent="-342900">
              <a:spcAft>
                <a:spcPts val="1000"/>
              </a:spcAft>
              <a:buSzPct val="100000"/>
              <a:buChar char="•"/>
            </a:pPr>
            <a:r>
              <a:rPr lang="en-US" sz="1600" dirty="0">
                <a:solidFill>
                  <a:srgbClr val="22283A"/>
                </a:solidFill>
              </a:rPr>
              <a:t>4,249 customers from the feature period, classes split 75% / 25%</a:t>
            </a:r>
            <a:endParaRPr lang="en-US" sz="1600" dirty="0"/>
          </a:p>
          <a:p>
            <a:pPr marL="342900" indent="-342900">
              <a:spcAft>
                <a:spcPts val="1000"/>
              </a:spcAft>
              <a:buSzPct val="100000"/>
              <a:buChar char="•"/>
            </a:pPr>
            <a:r>
              <a:rPr lang="en-US" sz="1600" dirty="0">
                <a:solidFill>
                  <a:srgbClr val="22283A"/>
                </a:solidFill>
              </a:rPr>
              <a:t>Stratified 75/25 train-test split, random_state = 42</a:t>
            </a:r>
            <a:endParaRPr lang="en-US" sz="1600" dirty="0"/>
          </a:p>
        </p:txBody>
      </p:sp>
      <p:sp>
        <p:nvSpPr>
          <p:cNvPr id="9" name="Shape 6"/>
          <p:cNvSpPr/>
          <p:nvPr/>
        </p:nvSpPr>
        <p:spPr>
          <a:xfrm>
            <a:off x="7589520" y="1143000"/>
            <a:ext cx="4114800" cy="5212080"/>
          </a:xfrm>
          <a:prstGeom prst="roundRect">
            <a:avLst>
              <a:gd name="adj" fmla="val 2667"/>
            </a:avLst>
          </a:prstGeom>
          <a:solidFill>
            <a:srgbClr val="E8EEFB"/>
          </a:solidFill>
          <a:ln w="12700">
            <a:solidFill>
              <a:srgbClr val="D5DCEA"/>
            </a:solidFill>
            <a:prstDash val="solid"/>
          </a:ln>
        </p:spPr>
      </p:sp>
      <p:sp>
        <p:nvSpPr>
          <p:cNvPr id="10" name="Text 7"/>
          <p:cNvSpPr txBox="1"/>
          <p:nvPr/>
        </p:nvSpPr>
        <p:spPr>
          <a:xfrm>
            <a:off x="7772400" y="1234440"/>
            <a:ext cx="3749040" cy="457200"/>
          </a:xfrm>
          <a:prstGeom prst="rect">
            <a:avLst/>
          </a:prstGeom>
          <a:noFill/>
          <a:ln/>
        </p:spPr>
        <p:txBody>
          <a:bodyPr wrap="square" rtlCol="0" anchor="ctr"/>
          <a:lstStyle/>
          <a:p>
            <a:pPr marL="0" indent="0">
              <a:buNone/>
            </a:pPr>
            <a:r>
              <a:rPr lang="en-US" sz="1800" b="1" dirty="0">
                <a:solidFill>
                  <a:srgbClr val="1E2761"/>
                </a:solidFill>
              </a:rPr>
              <a:t>9 historical features</a:t>
            </a:r>
            <a:endParaRPr lang="en-US" sz="1800" dirty="0"/>
          </a:p>
        </p:txBody>
      </p:sp>
      <p:sp>
        <p:nvSpPr>
          <p:cNvPr id="11" name="Text 8"/>
          <p:cNvSpPr txBox="1"/>
          <p:nvPr/>
        </p:nvSpPr>
        <p:spPr>
          <a:xfrm>
            <a:off x="7772400" y="1737360"/>
            <a:ext cx="3749040" cy="3383280"/>
          </a:xfrm>
          <a:prstGeom prst="rect">
            <a:avLst/>
          </a:prstGeom>
          <a:noFill/>
          <a:ln/>
        </p:spPr>
        <p:txBody>
          <a:bodyPr wrap="square" rtlCol="0" anchor="t"/>
          <a:lstStyle/>
          <a:p>
            <a:pPr marL="342900" indent="-342900">
              <a:spcAft>
                <a:spcPts val="400"/>
              </a:spcAft>
              <a:buSzPct val="100000"/>
              <a:buChar char="•"/>
            </a:pPr>
            <a:r>
              <a:rPr lang="en-US" sz="1500" dirty="0">
                <a:solidFill>
                  <a:srgbClr val="22283A"/>
                </a:solidFill>
              </a:rPr>
              <a:t>HistTotalSpend</a:t>
            </a:r>
            <a:endParaRPr lang="en-US" sz="1500" dirty="0"/>
          </a:p>
          <a:p>
            <a:pPr marL="342900" indent="-342900">
              <a:spcAft>
                <a:spcPts val="400"/>
              </a:spcAft>
              <a:buSzPct val="100000"/>
              <a:buChar char="•"/>
            </a:pPr>
            <a:r>
              <a:rPr lang="en-US" sz="1500" dirty="0">
                <a:solidFill>
                  <a:srgbClr val="22283A"/>
                </a:solidFill>
              </a:rPr>
              <a:t>HistNumOrders</a:t>
            </a:r>
            <a:endParaRPr lang="en-US" sz="1500" dirty="0"/>
          </a:p>
          <a:p>
            <a:pPr marL="342900" indent="-342900">
              <a:spcAft>
                <a:spcPts val="400"/>
              </a:spcAft>
              <a:buSzPct val="100000"/>
              <a:buChar char="•"/>
            </a:pPr>
            <a:r>
              <a:rPr lang="en-US" sz="1500" dirty="0">
                <a:solidFill>
                  <a:srgbClr val="22283A"/>
                </a:solidFill>
              </a:rPr>
              <a:t>HistNumItems</a:t>
            </a:r>
            <a:endParaRPr lang="en-US" sz="1500" dirty="0"/>
          </a:p>
          <a:p>
            <a:pPr marL="342900" indent="-342900">
              <a:spcAft>
                <a:spcPts val="400"/>
              </a:spcAft>
              <a:buSzPct val="100000"/>
              <a:buChar char="•"/>
            </a:pPr>
            <a:r>
              <a:rPr lang="en-US" sz="1500" dirty="0">
                <a:solidFill>
                  <a:srgbClr val="22283A"/>
                </a:solidFill>
              </a:rPr>
              <a:t>HistNumUniqueProducts</a:t>
            </a:r>
            <a:endParaRPr lang="en-US" sz="1500" dirty="0"/>
          </a:p>
          <a:p>
            <a:pPr marL="342900" indent="-342900">
              <a:spcAft>
                <a:spcPts val="400"/>
              </a:spcAft>
              <a:buSzPct val="100000"/>
              <a:buChar char="•"/>
            </a:pPr>
            <a:r>
              <a:rPr lang="en-US" sz="1500" dirty="0">
                <a:solidFill>
                  <a:srgbClr val="22283A"/>
                </a:solidFill>
              </a:rPr>
              <a:t>HistAvgOrderValue</a:t>
            </a:r>
            <a:endParaRPr lang="en-US" sz="1500" dirty="0"/>
          </a:p>
          <a:p>
            <a:pPr marL="342900" indent="-342900">
              <a:spcAft>
                <a:spcPts val="400"/>
              </a:spcAft>
              <a:buSzPct val="100000"/>
              <a:buChar char="•"/>
            </a:pPr>
            <a:r>
              <a:rPr lang="en-US" sz="1500" dirty="0">
                <a:solidFill>
                  <a:srgbClr val="22283A"/>
                </a:solidFill>
              </a:rPr>
              <a:t>HistRecencyDays</a:t>
            </a:r>
            <a:endParaRPr lang="en-US" sz="1500" dirty="0"/>
          </a:p>
          <a:p>
            <a:pPr marL="342900" indent="-342900">
              <a:spcAft>
                <a:spcPts val="400"/>
              </a:spcAft>
              <a:buSzPct val="100000"/>
              <a:buChar char="•"/>
            </a:pPr>
            <a:r>
              <a:rPr lang="en-US" sz="1500" dirty="0">
                <a:solidFill>
                  <a:srgbClr val="22283A"/>
                </a:solidFill>
              </a:rPr>
              <a:t>HistLifespanDays</a:t>
            </a:r>
            <a:endParaRPr lang="en-US" sz="1500" dirty="0"/>
          </a:p>
          <a:p>
            <a:pPr marL="342900" indent="-342900">
              <a:spcAft>
                <a:spcPts val="400"/>
              </a:spcAft>
              <a:buSzPct val="100000"/>
              <a:buChar char="•"/>
            </a:pPr>
            <a:r>
              <a:rPr lang="en-US" sz="1500" dirty="0">
                <a:solidFill>
                  <a:srgbClr val="22283A"/>
                </a:solidFill>
              </a:rPr>
              <a:t>HistPurchaseFrequency</a:t>
            </a:r>
            <a:endParaRPr lang="en-US" sz="1500" dirty="0"/>
          </a:p>
          <a:p>
            <a:pPr marL="342900" indent="-342900">
              <a:spcAft>
                <a:spcPts val="400"/>
              </a:spcAft>
              <a:buSzPct val="100000"/>
              <a:buChar char="•"/>
            </a:pPr>
            <a:r>
              <a:rPr lang="en-US" sz="1500" dirty="0">
                <a:solidFill>
                  <a:srgbClr val="22283A"/>
                </a:solidFill>
              </a:rPr>
              <a:t>IsUK</a:t>
            </a:r>
            <a:endParaRPr lang="en-US" sz="1500" dirty="0"/>
          </a:p>
        </p:txBody>
      </p:sp>
      <p:sp>
        <p:nvSpPr>
          <p:cNvPr id="12" name="Text 9"/>
          <p:cNvSpPr txBox="1"/>
          <p:nvPr/>
        </p:nvSpPr>
        <p:spPr>
          <a:xfrm>
            <a:off x="7772400" y="5212080"/>
            <a:ext cx="3749040" cy="1005840"/>
          </a:xfrm>
          <a:prstGeom prst="rect">
            <a:avLst/>
          </a:prstGeom>
          <a:noFill/>
          <a:ln/>
        </p:spPr>
        <p:txBody>
          <a:bodyPr wrap="square" rtlCol="0" anchor="ctr"/>
          <a:lstStyle/>
          <a:p>
            <a:pPr marL="0" indent="0">
              <a:buNone/>
            </a:pPr>
            <a:r>
              <a:rPr lang="en-US" sz="1300" i="1" dirty="0">
                <a:solidFill>
                  <a:srgbClr val="5B6478"/>
                </a:solidFill>
              </a:rPr>
              <a:t>All features come only from before 2010-12-01. The label uses only spending after it.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Model Comparison &amp; Evaluation</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10</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11064240" cy="1353312"/>
        </p:xfrm>
        <a:graphic>
          <a:graphicData uri="http://schemas.openxmlformats.org/drawingml/2006/table">
            <a:tbl>
              <a:tblPr/>
              <a:tblGrid>
                <a:gridCol w="4114800"/>
                <a:gridCol w="1737360"/>
                <a:gridCol w="1737360"/>
                <a:gridCol w="1737360"/>
                <a:gridCol w="1737360"/>
              </a:tblGrid>
              <a:tr h="0">
                <a:tc>
                  <a:txBody>
                    <a:bodyPr/>
                    <a:lstStyle/>
                    <a:p>
                      <a:pPr marL="0" indent="0">
                        <a:buNone/>
                      </a:pPr>
                      <a:r>
                        <a:rPr lang="en-US" sz="1500" b="1" dirty="0">
                          <a:solidFill>
                            <a:srgbClr val="FFFFFF"/>
                          </a:solidFill>
                        </a:rPr>
                        <a:t>Model</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500" b="1" dirty="0">
                          <a:solidFill>
                            <a:srgbClr val="FFFFFF"/>
                          </a:solidFill>
                        </a:rPr>
                        <a:t>Accuracy</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500" b="1" dirty="0">
                          <a:solidFill>
                            <a:srgbClr val="FFFFFF"/>
                          </a:solidFill>
                        </a:rPr>
                        <a:t>Precision</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500" b="1" dirty="0">
                          <a:solidFill>
                            <a:srgbClr val="FFFFFF"/>
                          </a:solidFill>
                        </a:rPr>
                        <a:t>Recall</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c>
                  <a:txBody>
                    <a:bodyPr/>
                    <a:lstStyle/>
                    <a:p>
                      <a:pPr marL="0" indent="0">
                        <a:buNone/>
                      </a:pPr>
                      <a:r>
                        <a:rPr lang="en-US" sz="1500" b="1" dirty="0">
                          <a:solidFill>
                            <a:srgbClr val="FFFFFF"/>
                          </a:solidFill>
                        </a:rPr>
                        <a:t>F1-Score</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3E5C9A"/>
                    </a:solidFill>
                  </a:tcPr>
                </a:tc>
              </a:tr>
              <a:tr h="0">
                <a:tc>
                  <a:txBody>
                    <a:bodyPr/>
                    <a:lstStyle/>
                    <a:p>
                      <a:pPr marL="0" indent="0">
                        <a:buNone/>
                      </a:pPr>
                      <a:r>
                        <a:rPr lang="en-US" sz="1500" dirty="0">
                          <a:solidFill>
                            <a:srgbClr val="22283A"/>
                          </a:solidFill>
                        </a:rPr>
                        <a:t>Baseline (always 'not high-value')</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0.750</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0.000</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0.000</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0.000</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dirty="0">
                          <a:solidFill>
                            <a:srgbClr val="22283A"/>
                          </a:solidFill>
                        </a:rPr>
                        <a:t>Logistic Regression</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0.804</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0.591</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0.707</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marL="0" indent="0">
                        <a:buNone/>
                      </a:pPr>
                      <a:r>
                        <a:rPr lang="en-US" sz="1500" dirty="0">
                          <a:solidFill>
                            <a:srgbClr val="22283A"/>
                          </a:solidFill>
                        </a:rPr>
                        <a:t>0.644</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0">
                <a:tc>
                  <a:txBody>
                    <a:bodyPr/>
                    <a:lstStyle/>
                    <a:p>
                      <a:pPr marL="0" indent="0">
                        <a:buNone/>
                      </a:pPr>
                      <a:r>
                        <a:rPr lang="en-US" sz="1500" b="1" dirty="0">
                          <a:solidFill>
                            <a:srgbClr val="22283A"/>
                          </a:solidFill>
                        </a:rPr>
                        <a:t>Random Forest</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c>
                  <a:txBody>
                    <a:bodyPr/>
                    <a:lstStyle/>
                    <a:p>
                      <a:pPr marL="0" indent="0">
                        <a:buNone/>
                      </a:pPr>
                      <a:r>
                        <a:rPr lang="en-US" sz="1500" b="1" dirty="0">
                          <a:solidFill>
                            <a:srgbClr val="22283A"/>
                          </a:solidFill>
                        </a:rPr>
                        <a:t>0.831</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c>
                  <a:txBody>
                    <a:bodyPr/>
                    <a:lstStyle/>
                    <a:p>
                      <a:pPr marL="0" indent="0">
                        <a:buNone/>
                      </a:pPr>
                      <a:r>
                        <a:rPr lang="en-US" sz="1500" b="1" dirty="0">
                          <a:solidFill>
                            <a:srgbClr val="22283A"/>
                          </a:solidFill>
                        </a:rPr>
                        <a:t>0.644</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c>
                  <a:txBody>
                    <a:bodyPr/>
                    <a:lstStyle/>
                    <a:p>
                      <a:pPr marL="0" indent="0">
                        <a:buNone/>
                      </a:pPr>
                      <a:r>
                        <a:rPr lang="en-US" sz="1500" b="1" dirty="0">
                          <a:solidFill>
                            <a:srgbClr val="22283A"/>
                          </a:solidFill>
                        </a:rPr>
                        <a:t>0.722</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c>
                  <a:txBody>
                    <a:bodyPr/>
                    <a:lstStyle/>
                    <a:p>
                      <a:pPr marL="0" indent="0">
                        <a:buNone/>
                      </a:pPr>
                      <a:r>
                        <a:rPr lang="en-US" sz="1500" b="1" dirty="0">
                          <a:solidFill>
                            <a:srgbClr val="22283A"/>
                          </a:solidFill>
                        </a:rPr>
                        <a:t>0.681</a:t>
                      </a:r>
                      <a:endParaRPr lang="en-US" sz="1500" dirty="0"/>
                    </a:p>
                  </a:txBody>
                  <a:tcPr marL="54864" marR="54864" marT="54864" marB="54864"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DDE8FB"/>
                    </a:solidFill>
                  </a:tcPr>
                </a:tc>
              </a:tr>
            </a:tbl>
          </a:graphicData>
        </a:graphic>
      </p:graphicFrame>
      <p:sp>
        <p:nvSpPr>
          <p:cNvPr id="7" name="Shape 4"/>
          <p:cNvSpPr/>
          <p:nvPr/>
        </p:nvSpPr>
        <p:spPr>
          <a:xfrm>
            <a:off x="548640" y="2880360"/>
            <a:ext cx="3291840" cy="3337560"/>
          </a:xfrm>
          <a:prstGeom prst="roundRect">
            <a:avLst>
              <a:gd name="adj" fmla="val 3333"/>
            </a:avLst>
          </a:prstGeom>
          <a:solidFill>
            <a:srgbClr val="FFFFFF"/>
          </a:solidFill>
          <a:ln w="12700">
            <a:solidFill>
              <a:srgbClr val="D5DCEA"/>
            </a:solidFill>
            <a:prstDash val="solid"/>
          </a:ln>
        </p:spPr>
      </p:sp>
      <p:pic>
        <p:nvPicPr>
          <p:cNvPr id="8" name="Image 0" descr="/home/claude/project/outputs/charts/13_confusion_matrix_logreg.png"/>
          <p:cNvPicPr>
            <a:picLocks noChangeAspect="1"/>
          </p:cNvPicPr>
          <p:nvPr/>
        </p:nvPicPr>
        <p:blipFill>
          <a:blip r:embed="rId3"/>
          <a:stretch>
            <a:fillRect/>
          </a:stretch>
        </p:blipFill>
        <p:spPr>
          <a:xfrm>
            <a:off x="800100" y="2926080"/>
            <a:ext cx="2788920" cy="2788920"/>
          </a:xfrm>
          <a:prstGeom prst="rect">
            <a:avLst/>
          </a:prstGeom>
        </p:spPr>
      </p:pic>
      <p:sp>
        <p:nvSpPr>
          <p:cNvPr id="9" name="Text 5"/>
          <p:cNvSpPr txBox="1"/>
          <p:nvPr/>
        </p:nvSpPr>
        <p:spPr>
          <a:xfrm>
            <a:off x="548640" y="5715000"/>
            <a:ext cx="3291840" cy="457200"/>
          </a:xfrm>
          <a:prstGeom prst="rect">
            <a:avLst/>
          </a:prstGeom>
          <a:noFill/>
          <a:ln/>
        </p:spPr>
        <p:txBody>
          <a:bodyPr wrap="square" rtlCol="0" anchor="ctr"/>
          <a:lstStyle/>
          <a:p>
            <a:pPr marL="0" indent="0" algn="ctr">
              <a:buNone/>
            </a:pPr>
            <a:r>
              <a:rPr lang="en-US" sz="1200" b="1" dirty="0">
                <a:solidFill>
                  <a:srgbClr val="1E2761"/>
                </a:solidFill>
              </a:rPr>
              <a:t>Logistic Regression</a:t>
            </a:r>
            <a:endParaRPr lang="en-US" sz="1200" dirty="0"/>
          </a:p>
        </p:txBody>
      </p:sp>
      <p:sp>
        <p:nvSpPr>
          <p:cNvPr id="10" name="Shape 6"/>
          <p:cNvSpPr/>
          <p:nvPr/>
        </p:nvSpPr>
        <p:spPr>
          <a:xfrm>
            <a:off x="4023360" y="2880360"/>
            <a:ext cx="3291840" cy="3337560"/>
          </a:xfrm>
          <a:prstGeom prst="roundRect">
            <a:avLst>
              <a:gd name="adj" fmla="val 3333"/>
            </a:avLst>
          </a:prstGeom>
          <a:solidFill>
            <a:srgbClr val="FFFFFF"/>
          </a:solidFill>
          <a:ln w="12700">
            <a:solidFill>
              <a:srgbClr val="D5DCEA"/>
            </a:solidFill>
            <a:prstDash val="solid"/>
          </a:ln>
        </p:spPr>
      </p:sp>
      <p:pic>
        <p:nvPicPr>
          <p:cNvPr id="6" name="Image 1" descr="/home/claude/project/outputs/charts/14_confusion_matrix_rf.png"/>
          <p:cNvPicPr>
            <a:picLocks noChangeAspect="1"/>
          </p:cNvPicPr>
          <p:nvPr/>
        </p:nvPicPr>
        <p:blipFill>
          <a:blip r:embed="rId4"/>
          <a:stretch>
            <a:fillRect/>
          </a:stretch>
        </p:blipFill>
        <p:spPr>
          <a:xfrm>
            <a:off x="4274820" y="2926080"/>
            <a:ext cx="2788920" cy="2788920"/>
          </a:xfrm>
          <a:prstGeom prst="rect">
            <a:avLst/>
          </a:prstGeom>
        </p:spPr>
      </p:pic>
      <p:sp>
        <p:nvSpPr>
          <p:cNvPr id="12" name="Text 7"/>
          <p:cNvSpPr txBox="1"/>
          <p:nvPr/>
        </p:nvSpPr>
        <p:spPr>
          <a:xfrm>
            <a:off x="4023360" y="5715000"/>
            <a:ext cx="3291840" cy="457200"/>
          </a:xfrm>
          <a:prstGeom prst="rect">
            <a:avLst/>
          </a:prstGeom>
          <a:noFill/>
          <a:ln/>
        </p:spPr>
        <p:txBody>
          <a:bodyPr wrap="square" rtlCol="0" anchor="ctr"/>
          <a:lstStyle/>
          <a:p>
            <a:pPr marL="0" indent="0" algn="ctr">
              <a:buNone/>
            </a:pPr>
            <a:r>
              <a:rPr lang="en-US" sz="1200" b="1" dirty="0">
                <a:solidFill>
                  <a:srgbClr val="1E2761"/>
                </a:solidFill>
              </a:rPr>
              <a:t>Random Forest</a:t>
            </a:r>
            <a:endParaRPr lang="en-US" sz="1200" dirty="0"/>
          </a:p>
        </p:txBody>
      </p:sp>
      <p:sp>
        <p:nvSpPr>
          <p:cNvPr id="13" name="Shape 8"/>
          <p:cNvSpPr/>
          <p:nvPr/>
        </p:nvSpPr>
        <p:spPr>
          <a:xfrm>
            <a:off x="7498080" y="2880360"/>
            <a:ext cx="4206240" cy="3337560"/>
          </a:xfrm>
          <a:prstGeom prst="roundRect">
            <a:avLst>
              <a:gd name="adj" fmla="val 3288"/>
            </a:avLst>
          </a:prstGeom>
          <a:solidFill>
            <a:srgbClr val="FFFFFF"/>
          </a:solidFill>
          <a:ln w="12700">
            <a:solidFill>
              <a:srgbClr val="D5DCEA"/>
            </a:solidFill>
            <a:prstDash val="solid"/>
          </a:ln>
        </p:spPr>
      </p:sp>
      <p:pic>
        <p:nvPicPr>
          <p:cNvPr id="14" name="Image 2" descr="/home/claude/project/outputs/charts/15_feature_importance_rf.png"/>
          <p:cNvPicPr>
            <a:picLocks noChangeAspect="1"/>
          </p:cNvPicPr>
          <p:nvPr/>
        </p:nvPicPr>
        <p:blipFill>
          <a:blip r:embed="rId5"/>
          <a:stretch>
            <a:fillRect/>
          </a:stretch>
        </p:blipFill>
        <p:spPr>
          <a:xfrm>
            <a:off x="7589520" y="2979420"/>
            <a:ext cx="4023360" cy="2682240"/>
          </a:xfrm>
          <a:prstGeom prst="rect">
            <a:avLst/>
          </a:prstGeom>
        </p:spPr>
      </p:pic>
      <p:sp>
        <p:nvSpPr>
          <p:cNvPr id="15" name="Text 9"/>
          <p:cNvSpPr txBox="1"/>
          <p:nvPr/>
        </p:nvSpPr>
        <p:spPr>
          <a:xfrm>
            <a:off x="7498080" y="5715000"/>
            <a:ext cx="4206240" cy="457200"/>
          </a:xfrm>
          <a:prstGeom prst="rect">
            <a:avLst/>
          </a:prstGeom>
          <a:noFill/>
          <a:ln/>
        </p:spPr>
        <p:txBody>
          <a:bodyPr wrap="square" rtlCol="0" anchor="ctr"/>
          <a:lstStyle/>
          <a:p>
            <a:pPr marL="0" indent="0" algn="ctr">
              <a:buNone/>
            </a:pPr>
            <a:r>
              <a:rPr lang="en-US" sz="1200" b="1" dirty="0">
                <a:solidFill>
                  <a:srgbClr val="1E2761"/>
                </a:solidFill>
              </a:rPr>
              <a:t>Random Forest feature importance</a:t>
            </a:r>
            <a:endParaRPr lang="en-US" sz="1200" dirty="0"/>
          </a:p>
        </p:txBody>
      </p:sp>
      <p:sp>
        <p:nvSpPr>
          <p:cNvPr id="16" name="Text 10"/>
          <p:cNvSpPr txBox="1"/>
          <p:nvPr/>
        </p:nvSpPr>
        <p:spPr>
          <a:xfrm>
            <a:off x="548640" y="6263640"/>
            <a:ext cx="11064240" cy="502920"/>
          </a:xfrm>
          <a:prstGeom prst="rect">
            <a:avLst/>
          </a:prstGeom>
          <a:noFill/>
          <a:ln/>
        </p:spPr>
        <p:txBody>
          <a:bodyPr wrap="square" lIns="0" tIns="0" rIns="0" bIns="0" rtlCol="0" anchor="ctr"/>
          <a:lstStyle/>
          <a:p>
            <a:pPr marL="0" indent="0">
              <a:buNone/>
            </a:pPr>
            <a:r>
              <a:rPr lang="en-US" sz="1300" dirty="0">
                <a:solidFill>
                  <a:srgbClr val="22283A"/>
                </a:solidFill>
              </a:rPr>
              <a:t>The baseline never finds a high-value customer, so its 75% accuracy is misleading. Random Forest is best on all four metrics. Top predictors: HistTotalSpend, HistNumItems, HistNumOrders.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E2761"/>
          </a:solidFill>
          <a:ln w="12700">
            <a:solidFill>
              <a:srgbClr val="1E2761"/>
            </a:solidFill>
            <a:prstDash val="solid"/>
          </a:ln>
        </p:spPr>
      </p:sp>
      <p:sp>
        <p:nvSpPr>
          <p:cNvPr id="3" name="Text 1"/>
          <p:cNvSpPr txBox="1"/>
          <p:nvPr/>
        </p:nvSpPr>
        <p:spPr>
          <a:xfrm>
            <a:off x="548640" y="109728"/>
            <a:ext cx="10424160" cy="658368"/>
          </a:xfrm>
          <a:prstGeom prst="rect">
            <a:avLst/>
          </a:prstGeom>
          <a:noFill/>
          <a:ln/>
        </p:spPr>
        <p:txBody>
          <a:bodyPr wrap="square" rtlCol="0" anchor="ctr"/>
          <a:lstStyle/>
          <a:p>
            <a:pPr marL="0" indent="0">
              <a:buNone/>
            </a:pPr>
            <a:r>
              <a:rPr lang="en-US" sz="2800" b="1" dirty="0">
                <a:solidFill>
                  <a:srgbClr val="FFFFFF"/>
                </a:solidFill>
              </a:rPr>
              <a:t>Business Recommendations</a:t>
            </a:r>
            <a:endParaRPr lang="en-US" sz="2800" dirty="0"/>
          </a:p>
        </p:txBody>
      </p:sp>
      <p:sp>
        <p:nvSpPr>
          <p:cNvPr id="4" name="Shape 2"/>
          <p:cNvSpPr/>
          <p:nvPr/>
        </p:nvSpPr>
        <p:spPr>
          <a:xfrm>
            <a:off x="11155680" y="182880"/>
            <a:ext cx="502920" cy="502920"/>
          </a:xfrm>
          <a:prstGeom prst="ellipse">
            <a:avLst/>
          </a:prstGeom>
          <a:solidFill>
            <a:srgbClr val="F96167"/>
          </a:solidFill>
          <a:ln w="12700">
            <a:solidFill>
              <a:srgbClr val="F96167"/>
            </a:solidFill>
            <a:prstDash val="solid"/>
          </a:ln>
        </p:spPr>
      </p:sp>
      <p:sp>
        <p:nvSpPr>
          <p:cNvPr id="5" name="Text 3"/>
          <p:cNvSpPr txBox="1"/>
          <p:nvPr/>
        </p:nvSpPr>
        <p:spPr>
          <a:xfrm>
            <a:off x="11155680" y="18288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rPr>
              <a:t>11</a:t>
            </a:r>
            <a:endParaRPr lang="en-US" sz="1600" dirty="0"/>
          </a:p>
        </p:txBody>
      </p:sp>
      <p:sp>
        <p:nvSpPr>
          <p:cNvPr id="6" name="Text 4"/>
          <p:cNvSpPr txBox="1"/>
          <p:nvPr/>
        </p:nvSpPr>
        <p:spPr>
          <a:xfrm>
            <a:off x="548640" y="1051560"/>
            <a:ext cx="4937760" cy="365760"/>
          </a:xfrm>
          <a:prstGeom prst="rect">
            <a:avLst/>
          </a:prstGeom>
          <a:noFill/>
          <a:ln/>
        </p:spPr>
        <p:txBody>
          <a:bodyPr wrap="square" lIns="0" tIns="0" rIns="0" bIns="0" rtlCol="0" anchor="ctr"/>
          <a:lstStyle/>
          <a:p>
            <a:pPr marL="0" indent="0">
              <a:buNone/>
            </a:pPr>
            <a:r>
              <a:rPr lang="en-US" sz="1400" b="1" dirty="0">
                <a:solidFill>
                  <a:srgbClr val="5B6478"/>
                </a:solidFill>
              </a:rPr>
              <a:t>Finding</a:t>
            </a:r>
            <a:endParaRPr lang="en-US" sz="1400" dirty="0"/>
          </a:p>
        </p:txBody>
      </p:sp>
      <p:sp>
        <p:nvSpPr>
          <p:cNvPr id="7" name="Text 5"/>
          <p:cNvSpPr txBox="1"/>
          <p:nvPr/>
        </p:nvSpPr>
        <p:spPr>
          <a:xfrm>
            <a:off x="6309360" y="1051560"/>
            <a:ext cx="5303520" cy="365760"/>
          </a:xfrm>
          <a:prstGeom prst="rect">
            <a:avLst/>
          </a:prstGeom>
          <a:noFill/>
          <a:ln/>
        </p:spPr>
        <p:txBody>
          <a:bodyPr wrap="square" lIns="0" tIns="0" rIns="0" bIns="0" rtlCol="0" anchor="ctr"/>
          <a:lstStyle/>
          <a:p>
            <a:pPr marL="0" indent="0">
              <a:buNone/>
            </a:pPr>
            <a:r>
              <a:rPr lang="en-US" sz="1400" b="1" dirty="0">
                <a:solidFill>
                  <a:srgbClr val="5B6478"/>
                </a:solidFill>
              </a:rPr>
              <a:t>Recommendation</a:t>
            </a:r>
            <a:endParaRPr lang="en-US" sz="1400" dirty="0"/>
          </a:p>
        </p:txBody>
      </p:sp>
      <p:sp>
        <p:nvSpPr>
          <p:cNvPr id="8" name="Shape 6"/>
          <p:cNvSpPr/>
          <p:nvPr/>
        </p:nvSpPr>
        <p:spPr>
          <a:xfrm>
            <a:off x="548640" y="1463040"/>
            <a:ext cx="5212080" cy="1051560"/>
          </a:xfrm>
          <a:prstGeom prst="roundRect">
            <a:avLst>
              <a:gd name="adj" fmla="val 10435"/>
            </a:avLst>
          </a:prstGeom>
          <a:solidFill>
            <a:srgbClr val="FFFFFF"/>
          </a:solidFill>
          <a:ln w="12700">
            <a:solidFill>
              <a:srgbClr val="D5DCEA"/>
            </a:solidFill>
            <a:prstDash val="solid"/>
          </a:ln>
        </p:spPr>
      </p:sp>
      <p:sp>
        <p:nvSpPr>
          <p:cNvPr id="9" name="Text 7"/>
          <p:cNvSpPr txBox="1"/>
          <p:nvPr/>
        </p:nvSpPr>
        <p:spPr>
          <a:xfrm>
            <a:off x="731520" y="1463040"/>
            <a:ext cx="4846320" cy="1051560"/>
          </a:xfrm>
          <a:prstGeom prst="rect">
            <a:avLst/>
          </a:prstGeom>
          <a:noFill/>
          <a:ln/>
        </p:spPr>
        <p:txBody>
          <a:bodyPr wrap="square" rtlCol="0" anchor="ctr"/>
          <a:lstStyle/>
          <a:p>
            <a:pPr marL="0" indent="0">
              <a:buNone/>
            </a:pPr>
            <a:r>
              <a:rPr lang="en-US" sz="1500" dirty="0">
                <a:solidFill>
                  <a:srgbClr val="22283A"/>
                </a:solidFill>
              </a:rPr>
              <a:t>A small set of products drives much of the revenue</a:t>
            </a:r>
            <a:endParaRPr lang="en-US" sz="1500" dirty="0"/>
          </a:p>
        </p:txBody>
      </p:sp>
      <p:sp>
        <p:nvSpPr>
          <p:cNvPr id="10" name="Shape 8"/>
          <p:cNvSpPr/>
          <p:nvPr/>
        </p:nvSpPr>
        <p:spPr>
          <a:xfrm>
            <a:off x="5852160" y="1783080"/>
            <a:ext cx="365760" cy="411480"/>
          </a:xfrm>
          <a:prstGeom prst="rightArrow">
            <a:avLst/>
          </a:prstGeom>
          <a:solidFill>
            <a:srgbClr val="F96167"/>
          </a:solidFill>
          <a:ln w="12700">
            <a:solidFill>
              <a:srgbClr val="F96167"/>
            </a:solidFill>
            <a:prstDash val="solid"/>
          </a:ln>
        </p:spPr>
      </p:sp>
      <p:sp>
        <p:nvSpPr>
          <p:cNvPr id="11" name="Shape 9"/>
          <p:cNvSpPr/>
          <p:nvPr/>
        </p:nvSpPr>
        <p:spPr>
          <a:xfrm>
            <a:off x="6309360" y="1463040"/>
            <a:ext cx="5394960" cy="1051560"/>
          </a:xfrm>
          <a:prstGeom prst="roundRect">
            <a:avLst>
              <a:gd name="adj" fmla="val 10435"/>
            </a:avLst>
          </a:prstGeom>
          <a:solidFill>
            <a:srgbClr val="E8EEFB"/>
          </a:solidFill>
          <a:ln w="12700">
            <a:solidFill>
              <a:srgbClr val="D5DCEA"/>
            </a:solidFill>
            <a:prstDash val="solid"/>
          </a:ln>
        </p:spPr>
      </p:sp>
      <p:sp>
        <p:nvSpPr>
          <p:cNvPr id="12" name="Text 10"/>
          <p:cNvSpPr txBox="1"/>
          <p:nvPr/>
        </p:nvSpPr>
        <p:spPr>
          <a:xfrm>
            <a:off x="6492240" y="1463040"/>
            <a:ext cx="5029200" cy="1051560"/>
          </a:xfrm>
          <a:prstGeom prst="rect">
            <a:avLst/>
          </a:prstGeom>
          <a:noFill/>
          <a:ln/>
        </p:spPr>
        <p:txBody>
          <a:bodyPr wrap="square" rtlCol="0" anchor="ctr"/>
          <a:lstStyle/>
          <a:p>
            <a:pPr marL="0" indent="0">
              <a:buNone/>
            </a:pPr>
            <a:r>
              <a:rPr lang="en-US" sz="1500" b="1" dirty="0">
                <a:solidFill>
                  <a:srgbClr val="1E2761"/>
                </a:solidFill>
              </a:rPr>
              <a:t>Keep top-revenue products well stocked and promoted</a:t>
            </a:r>
            <a:endParaRPr lang="en-US" sz="1500" dirty="0"/>
          </a:p>
        </p:txBody>
      </p:sp>
      <p:sp>
        <p:nvSpPr>
          <p:cNvPr id="13" name="Shape 11"/>
          <p:cNvSpPr/>
          <p:nvPr/>
        </p:nvSpPr>
        <p:spPr>
          <a:xfrm>
            <a:off x="548640" y="2651760"/>
            <a:ext cx="5212080" cy="1051560"/>
          </a:xfrm>
          <a:prstGeom prst="roundRect">
            <a:avLst>
              <a:gd name="adj" fmla="val 10435"/>
            </a:avLst>
          </a:prstGeom>
          <a:solidFill>
            <a:srgbClr val="FFFFFF"/>
          </a:solidFill>
          <a:ln w="12700">
            <a:solidFill>
              <a:srgbClr val="D5DCEA"/>
            </a:solidFill>
            <a:prstDash val="solid"/>
          </a:ln>
        </p:spPr>
      </p:sp>
      <p:sp>
        <p:nvSpPr>
          <p:cNvPr id="14" name="Text 12"/>
          <p:cNvSpPr txBox="1"/>
          <p:nvPr/>
        </p:nvSpPr>
        <p:spPr>
          <a:xfrm>
            <a:off x="731520" y="2651760"/>
            <a:ext cx="4846320" cy="1051560"/>
          </a:xfrm>
          <a:prstGeom prst="rect">
            <a:avLst/>
          </a:prstGeom>
          <a:noFill/>
          <a:ln/>
        </p:spPr>
        <p:txBody>
          <a:bodyPr wrap="square" rtlCol="0" anchor="ctr"/>
          <a:lstStyle/>
          <a:p>
            <a:pPr marL="0" indent="0">
              <a:buNone/>
            </a:pPr>
            <a:r>
              <a:rPr lang="en-US" sz="1500" dirty="0">
                <a:solidFill>
                  <a:srgbClr val="22283A"/>
                </a:solidFill>
              </a:rPr>
              <a:t>Revenue peaks around October and November</a:t>
            </a:r>
            <a:endParaRPr lang="en-US" sz="1500" dirty="0"/>
          </a:p>
        </p:txBody>
      </p:sp>
      <p:sp>
        <p:nvSpPr>
          <p:cNvPr id="15" name="Shape 13"/>
          <p:cNvSpPr/>
          <p:nvPr/>
        </p:nvSpPr>
        <p:spPr>
          <a:xfrm>
            <a:off x="5852160" y="2971800"/>
            <a:ext cx="365760" cy="411480"/>
          </a:xfrm>
          <a:prstGeom prst="rightArrow">
            <a:avLst/>
          </a:prstGeom>
          <a:solidFill>
            <a:srgbClr val="F96167"/>
          </a:solidFill>
          <a:ln w="12700">
            <a:solidFill>
              <a:srgbClr val="F96167"/>
            </a:solidFill>
            <a:prstDash val="solid"/>
          </a:ln>
        </p:spPr>
      </p:sp>
      <p:sp>
        <p:nvSpPr>
          <p:cNvPr id="16" name="Shape 14"/>
          <p:cNvSpPr/>
          <p:nvPr/>
        </p:nvSpPr>
        <p:spPr>
          <a:xfrm>
            <a:off x="6309360" y="2651760"/>
            <a:ext cx="5394960" cy="1051560"/>
          </a:xfrm>
          <a:prstGeom prst="roundRect">
            <a:avLst>
              <a:gd name="adj" fmla="val 10435"/>
            </a:avLst>
          </a:prstGeom>
          <a:solidFill>
            <a:srgbClr val="E8EEFB"/>
          </a:solidFill>
          <a:ln w="12700">
            <a:solidFill>
              <a:srgbClr val="D5DCEA"/>
            </a:solidFill>
            <a:prstDash val="solid"/>
          </a:ln>
        </p:spPr>
      </p:sp>
      <p:sp>
        <p:nvSpPr>
          <p:cNvPr id="17" name="Text 15"/>
          <p:cNvSpPr txBox="1"/>
          <p:nvPr/>
        </p:nvSpPr>
        <p:spPr>
          <a:xfrm>
            <a:off x="6492240" y="2651760"/>
            <a:ext cx="5029200" cy="1051560"/>
          </a:xfrm>
          <a:prstGeom prst="rect">
            <a:avLst/>
          </a:prstGeom>
          <a:noFill/>
          <a:ln/>
        </p:spPr>
        <p:txBody>
          <a:bodyPr wrap="square" rtlCol="0" anchor="ctr"/>
          <a:lstStyle/>
          <a:p>
            <a:pPr marL="0" indent="0">
              <a:buNone/>
            </a:pPr>
            <a:r>
              <a:rPr lang="en-US" sz="1500" b="1" dirty="0">
                <a:solidFill>
                  <a:srgbClr val="1E2761"/>
                </a:solidFill>
              </a:rPr>
              <a:t>Plan seasonal marketing and inventory ahead of the peak</a:t>
            </a:r>
            <a:endParaRPr lang="en-US" sz="1500" dirty="0"/>
          </a:p>
        </p:txBody>
      </p:sp>
      <p:sp>
        <p:nvSpPr>
          <p:cNvPr id="18" name="Shape 16"/>
          <p:cNvSpPr/>
          <p:nvPr/>
        </p:nvSpPr>
        <p:spPr>
          <a:xfrm>
            <a:off x="548640" y="3840480"/>
            <a:ext cx="5212080" cy="1051560"/>
          </a:xfrm>
          <a:prstGeom prst="roundRect">
            <a:avLst>
              <a:gd name="adj" fmla="val 10435"/>
            </a:avLst>
          </a:prstGeom>
          <a:solidFill>
            <a:srgbClr val="FFFFFF"/>
          </a:solidFill>
          <a:ln w="12700">
            <a:solidFill>
              <a:srgbClr val="D5DCEA"/>
            </a:solidFill>
            <a:prstDash val="solid"/>
          </a:ln>
        </p:spPr>
      </p:sp>
      <p:sp>
        <p:nvSpPr>
          <p:cNvPr id="19" name="Text 17"/>
          <p:cNvSpPr txBox="1"/>
          <p:nvPr/>
        </p:nvSpPr>
        <p:spPr>
          <a:xfrm>
            <a:off x="731520" y="3840480"/>
            <a:ext cx="4846320" cy="1051560"/>
          </a:xfrm>
          <a:prstGeom prst="rect">
            <a:avLst/>
          </a:prstGeom>
          <a:noFill/>
          <a:ln/>
        </p:spPr>
        <p:txBody>
          <a:bodyPr wrap="square" rtlCol="0" anchor="ctr"/>
          <a:lstStyle/>
          <a:p>
            <a:pPr marL="0" indent="0">
              <a:buNone/>
            </a:pPr>
            <a:r>
              <a:rPr lang="en-US" sz="1500" dirty="0">
                <a:solidFill>
                  <a:srgbClr val="22283A"/>
                </a:solidFill>
              </a:rPr>
              <a:t>About 25% of customers become high-value</a:t>
            </a:r>
            <a:endParaRPr lang="en-US" sz="1500" dirty="0"/>
          </a:p>
        </p:txBody>
      </p:sp>
      <p:sp>
        <p:nvSpPr>
          <p:cNvPr id="20" name="Shape 18"/>
          <p:cNvSpPr/>
          <p:nvPr/>
        </p:nvSpPr>
        <p:spPr>
          <a:xfrm>
            <a:off x="5852160" y="4160520"/>
            <a:ext cx="365760" cy="411480"/>
          </a:xfrm>
          <a:prstGeom prst="rightArrow">
            <a:avLst/>
          </a:prstGeom>
          <a:solidFill>
            <a:srgbClr val="F96167"/>
          </a:solidFill>
          <a:ln w="12700">
            <a:solidFill>
              <a:srgbClr val="F96167"/>
            </a:solidFill>
            <a:prstDash val="solid"/>
          </a:ln>
        </p:spPr>
      </p:sp>
      <p:sp>
        <p:nvSpPr>
          <p:cNvPr id="21" name="Shape 19"/>
          <p:cNvSpPr/>
          <p:nvPr/>
        </p:nvSpPr>
        <p:spPr>
          <a:xfrm>
            <a:off x="6309360" y="3840480"/>
            <a:ext cx="5394960" cy="1051560"/>
          </a:xfrm>
          <a:prstGeom prst="roundRect">
            <a:avLst>
              <a:gd name="adj" fmla="val 10435"/>
            </a:avLst>
          </a:prstGeom>
          <a:solidFill>
            <a:srgbClr val="E8EEFB"/>
          </a:solidFill>
          <a:ln w="12700">
            <a:solidFill>
              <a:srgbClr val="D5DCEA"/>
            </a:solidFill>
            <a:prstDash val="solid"/>
          </a:ln>
        </p:spPr>
      </p:sp>
      <p:sp>
        <p:nvSpPr>
          <p:cNvPr id="22" name="Text 20"/>
          <p:cNvSpPr txBox="1"/>
          <p:nvPr/>
        </p:nvSpPr>
        <p:spPr>
          <a:xfrm>
            <a:off x="6492240" y="3840480"/>
            <a:ext cx="5029200" cy="1051560"/>
          </a:xfrm>
          <a:prstGeom prst="rect">
            <a:avLst/>
          </a:prstGeom>
          <a:noFill/>
          <a:ln/>
        </p:spPr>
        <p:txBody>
          <a:bodyPr wrap="square" rtlCol="0" anchor="ctr"/>
          <a:lstStyle/>
          <a:p>
            <a:pPr marL="0" indent="0">
              <a:buNone/>
            </a:pPr>
            <a:r>
              <a:rPr lang="en-US" sz="1500" b="1" dirty="0">
                <a:solidFill>
                  <a:srgbClr val="1E2761"/>
                </a:solidFill>
              </a:rPr>
              <a:t>Use the model to flag likely high-value customers early for loyalty and retention</a:t>
            </a:r>
            <a:endParaRPr lang="en-US" sz="1500" dirty="0"/>
          </a:p>
        </p:txBody>
      </p:sp>
      <p:sp>
        <p:nvSpPr>
          <p:cNvPr id="23" name="Shape 21"/>
          <p:cNvSpPr/>
          <p:nvPr/>
        </p:nvSpPr>
        <p:spPr>
          <a:xfrm>
            <a:off x="548640" y="5029200"/>
            <a:ext cx="5212080" cy="1051560"/>
          </a:xfrm>
          <a:prstGeom prst="roundRect">
            <a:avLst>
              <a:gd name="adj" fmla="val 10435"/>
            </a:avLst>
          </a:prstGeom>
          <a:solidFill>
            <a:srgbClr val="FFFFFF"/>
          </a:solidFill>
          <a:ln w="12700">
            <a:solidFill>
              <a:srgbClr val="D5DCEA"/>
            </a:solidFill>
            <a:prstDash val="solid"/>
          </a:ln>
        </p:spPr>
      </p:sp>
      <p:sp>
        <p:nvSpPr>
          <p:cNvPr id="24" name="Text 22"/>
          <p:cNvSpPr txBox="1"/>
          <p:nvPr/>
        </p:nvSpPr>
        <p:spPr>
          <a:xfrm>
            <a:off x="731520" y="5029200"/>
            <a:ext cx="4846320" cy="1051560"/>
          </a:xfrm>
          <a:prstGeom prst="rect">
            <a:avLst/>
          </a:prstGeom>
          <a:noFill/>
          <a:ln/>
        </p:spPr>
        <p:txBody>
          <a:bodyPr wrap="square" rtlCol="0" anchor="ctr"/>
          <a:lstStyle/>
          <a:p>
            <a:pPr marL="0" indent="0">
              <a:buNone/>
            </a:pPr>
            <a:r>
              <a:rPr lang="en-US" sz="1500" dirty="0">
                <a:solidFill>
                  <a:srgbClr val="22283A"/>
                </a:solidFill>
              </a:rPr>
              <a:t>Past spend and items bought are the strongest predictors; country adds almost nothing</a:t>
            </a:r>
            <a:endParaRPr lang="en-US" sz="1500" dirty="0"/>
          </a:p>
        </p:txBody>
      </p:sp>
      <p:sp>
        <p:nvSpPr>
          <p:cNvPr id="25" name="Shape 23"/>
          <p:cNvSpPr/>
          <p:nvPr/>
        </p:nvSpPr>
        <p:spPr>
          <a:xfrm>
            <a:off x="5852160" y="5349240"/>
            <a:ext cx="365760" cy="411480"/>
          </a:xfrm>
          <a:prstGeom prst="rightArrow">
            <a:avLst/>
          </a:prstGeom>
          <a:solidFill>
            <a:srgbClr val="F96167"/>
          </a:solidFill>
          <a:ln w="12700">
            <a:solidFill>
              <a:srgbClr val="F96167"/>
            </a:solidFill>
            <a:prstDash val="solid"/>
          </a:ln>
        </p:spPr>
      </p:sp>
      <p:sp>
        <p:nvSpPr>
          <p:cNvPr id="26" name="Shape 24"/>
          <p:cNvSpPr/>
          <p:nvPr/>
        </p:nvSpPr>
        <p:spPr>
          <a:xfrm>
            <a:off x="6309360" y="5029200"/>
            <a:ext cx="5394960" cy="1051560"/>
          </a:xfrm>
          <a:prstGeom prst="roundRect">
            <a:avLst>
              <a:gd name="adj" fmla="val 10435"/>
            </a:avLst>
          </a:prstGeom>
          <a:solidFill>
            <a:srgbClr val="E8EEFB"/>
          </a:solidFill>
          <a:ln w="12700">
            <a:solidFill>
              <a:srgbClr val="D5DCEA"/>
            </a:solidFill>
            <a:prstDash val="solid"/>
          </a:ln>
        </p:spPr>
      </p:sp>
      <p:sp>
        <p:nvSpPr>
          <p:cNvPr id="27" name="Text 25"/>
          <p:cNvSpPr txBox="1"/>
          <p:nvPr/>
        </p:nvSpPr>
        <p:spPr>
          <a:xfrm>
            <a:off x="6492240" y="5029200"/>
            <a:ext cx="5029200" cy="1051560"/>
          </a:xfrm>
          <a:prstGeom prst="rect">
            <a:avLst/>
          </a:prstGeom>
          <a:noFill/>
          <a:ln/>
        </p:spPr>
        <p:txBody>
          <a:bodyPr wrap="square" rtlCol="0" anchor="ctr"/>
          <a:lstStyle/>
          <a:p>
            <a:pPr marL="0" indent="0">
              <a:buNone/>
            </a:pPr>
            <a:r>
              <a:rPr lang="en-US" sz="1500" b="1" dirty="0">
                <a:solidFill>
                  <a:srgbClr val="1E2761"/>
                </a:solidFill>
              </a:rPr>
              <a:t>Target on buying behavior, not geography</a:t>
            </a:r>
            <a:endParaRPr lang="en-US" sz="1500" dirty="0"/>
          </a:p>
        </p:txBody>
      </p:sp>
      <p:sp>
        <p:nvSpPr>
          <p:cNvPr id="28" name="Text 26"/>
          <p:cNvSpPr txBox="1"/>
          <p:nvPr/>
        </p:nvSpPr>
        <p:spPr>
          <a:xfrm>
            <a:off x="548640" y="6263640"/>
            <a:ext cx="11064240" cy="365760"/>
          </a:xfrm>
          <a:prstGeom prst="rect">
            <a:avLst/>
          </a:prstGeom>
          <a:noFill/>
          <a:ln/>
        </p:spPr>
        <p:txBody>
          <a:bodyPr wrap="square" lIns="0" tIns="0" rIns="0" bIns="0" rtlCol="0" anchor="ctr"/>
          <a:lstStyle/>
          <a:p>
            <a:pPr marL="0" indent="0">
              <a:buNone/>
            </a:pPr>
            <a:r>
              <a:rPr lang="en-US" sz="1200" i="1" dirty="0">
                <a:solidFill>
                  <a:srgbClr val="5B6478"/>
                </a:solidFill>
              </a:rPr>
              <a:t>Recommendations rest on association in past data; they are not proof of cause and effect.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640080" y="640080"/>
            <a:ext cx="1463040" cy="64008"/>
          </a:xfrm>
          <a:prstGeom prst="rect">
            <a:avLst/>
          </a:prstGeom>
          <a:solidFill>
            <a:srgbClr val="F96167"/>
          </a:solidFill>
          <a:ln w="12700">
            <a:solidFill>
              <a:srgbClr val="F96167"/>
            </a:solidFill>
            <a:prstDash val="solid"/>
          </a:ln>
        </p:spPr>
      </p:sp>
      <p:sp>
        <p:nvSpPr>
          <p:cNvPr id="3" name="Text 1"/>
          <p:cNvSpPr txBox="1"/>
          <p:nvPr/>
        </p:nvSpPr>
        <p:spPr>
          <a:xfrm>
            <a:off x="640080" y="777240"/>
            <a:ext cx="10972800" cy="822960"/>
          </a:xfrm>
          <a:prstGeom prst="rect">
            <a:avLst/>
          </a:prstGeom>
          <a:noFill/>
          <a:ln/>
        </p:spPr>
        <p:txBody>
          <a:bodyPr wrap="square" rtlCol="0" anchor="ctr"/>
          <a:lstStyle/>
          <a:p>
            <a:pPr marL="0" indent="0">
              <a:buNone/>
            </a:pPr>
            <a:r>
              <a:rPr lang="en-US" sz="3200" b="1" dirty="0">
                <a:solidFill>
                  <a:srgbClr val="FFFFFF"/>
                </a:solidFill>
              </a:rPr>
              <a:t>Conclusion, Limitations &amp; Live Demo</a:t>
            </a:r>
            <a:endParaRPr lang="en-US" sz="3200" dirty="0"/>
          </a:p>
        </p:txBody>
      </p:sp>
      <p:sp>
        <p:nvSpPr>
          <p:cNvPr id="4" name="Text 2"/>
          <p:cNvSpPr txBox="1"/>
          <p:nvPr/>
        </p:nvSpPr>
        <p:spPr>
          <a:xfrm>
            <a:off x="640080" y="1828800"/>
            <a:ext cx="5303520" cy="457200"/>
          </a:xfrm>
          <a:prstGeom prst="rect">
            <a:avLst/>
          </a:prstGeom>
          <a:noFill/>
          <a:ln/>
        </p:spPr>
        <p:txBody>
          <a:bodyPr wrap="square" rtlCol="0" anchor="ctr"/>
          <a:lstStyle/>
          <a:p>
            <a:pPr marL="0" indent="0">
              <a:buNone/>
            </a:pPr>
            <a:r>
              <a:rPr lang="en-US" sz="2000" b="1" dirty="0">
                <a:solidFill>
                  <a:srgbClr val="F96167"/>
                </a:solidFill>
              </a:rPr>
              <a:t>What we showed</a:t>
            </a:r>
            <a:endParaRPr lang="en-US" sz="2000" dirty="0"/>
          </a:p>
        </p:txBody>
      </p:sp>
      <p:sp>
        <p:nvSpPr>
          <p:cNvPr id="5" name="Text 3"/>
          <p:cNvSpPr txBox="1"/>
          <p:nvPr/>
        </p:nvSpPr>
        <p:spPr>
          <a:xfrm>
            <a:off x="640080" y="2331720"/>
            <a:ext cx="5303520" cy="23774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rPr>
              <a:t>Full pipeline from raw data to recommendations</a:t>
            </a:r>
            <a:endParaRPr lang="en-US" sz="1700" dirty="0"/>
          </a:p>
          <a:p>
            <a:pPr marL="342900" indent="-342900">
              <a:spcAft>
                <a:spcPts val="1000"/>
              </a:spcAft>
              <a:buSzPct val="100000"/>
              <a:buChar char="•"/>
            </a:pPr>
            <a:r>
              <a:rPr lang="en-US" sz="1700" dirty="0">
                <a:solidFill>
                  <a:srgbClr val="FFFFFF"/>
                </a:solidFill>
              </a:rPr>
              <a:t>Leakage-safe time split for prediction</a:t>
            </a:r>
            <a:endParaRPr lang="en-US" sz="1700" dirty="0"/>
          </a:p>
          <a:p>
            <a:pPr marL="342900" indent="-342900">
              <a:spcAft>
                <a:spcPts val="1000"/>
              </a:spcAft>
              <a:buSzPct val="100000"/>
              <a:buChar char="•"/>
            </a:pPr>
            <a:r>
              <a:rPr lang="en-US" sz="1700" dirty="0">
                <a:solidFill>
                  <a:srgbClr val="FFFFFF"/>
                </a:solidFill>
              </a:rPr>
              <a:t>Random Forest best: F1 0.681, clearly above baseline</a:t>
            </a:r>
            <a:endParaRPr lang="en-US" sz="1700" dirty="0"/>
          </a:p>
        </p:txBody>
      </p:sp>
      <p:sp>
        <p:nvSpPr>
          <p:cNvPr id="6" name="Text 4"/>
          <p:cNvSpPr txBox="1"/>
          <p:nvPr/>
        </p:nvSpPr>
        <p:spPr>
          <a:xfrm>
            <a:off x="6400800" y="1828800"/>
            <a:ext cx="5120640" cy="457200"/>
          </a:xfrm>
          <a:prstGeom prst="rect">
            <a:avLst/>
          </a:prstGeom>
          <a:noFill/>
          <a:ln/>
        </p:spPr>
        <p:txBody>
          <a:bodyPr wrap="square" rtlCol="0" anchor="ctr"/>
          <a:lstStyle/>
          <a:p>
            <a:pPr marL="0" indent="0">
              <a:buNone/>
            </a:pPr>
            <a:r>
              <a:rPr lang="en-US" sz="2000" b="1" dirty="0">
                <a:solidFill>
                  <a:srgbClr val="F96167"/>
                </a:solidFill>
              </a:rPr>
              <a:t>Limitations</a:t>
            </a:r>
            <a:endParaRPr lang="en-US" sz="2000" dirty="0"/>
          </a:p>
        </p:txBody>
      </p:sp>
      <p:sp>
        <p:nvSpPr>
          <p:cNvPr id="7" name="Text 5"/>
          <p:cNvSpPr txBox="1"/>
          <p:nvPr/>
        </p:nvSpPr>
        <p:spPr>
          <a:xfrm>
            <a:off x="6400800" y="2331720"/>
            <a:ext cx="5120640" cy="2377440"/>
          </a:xfrm>
          <a:prstGeom prst="rect">
            <a:avLst/>
          </a:prstGeom>
          <a:noFill/>
          <a:ln/>
        </p:spPr>
        <p:txBody>
          <a:bodyPr wrap="square" rtlCol="0" anchor="t"/>
          <a:lstStyle/>
          <a:p>
            <a:pPr marL="342900" indent="-342900">
              <a:spcAft>
                <a:spcPts val="1000"/>
              </a:spcAft>
              <a:buSzPct val="100000"/>
              <a:buChar char="•"/>
            </a:pPr>
            <a:r>
              <a:rPr lang="en-US" sz="1700" dirty="0">
                <a:solidFill>
                  <a:srgbClr val="FFFFFF"/>
                </a:solidFill>
              </a:rPr>
              <a:t>Historical data from 2009 to 2011</a:t>
            </a:r>
            <a:endParaRPr lang="en-US" sz="1700" dirty="0"/>
          </a:p>
          <a:p>
            <a:pPr marL="342900" indent="-342900">
              <a:spcAft>
                <a:spcPts val="1000"/>
              </a:spcAft>
              <a:buSzPct val="100000"/>
              <a:buChar char="•"/>
            </a:pPr>
            <a:r>
              <a:rPr lang="en-US" sz="1700" dirty="0">
                <a:solidFill>
                  <a:srgbClr val="FFFFFF"/>
                </a:solidFill>
              </a:rPr>
              <a:t>22.8% of rows had no Customer ID</a:t>
            </a:r>
            <a:endParaRPr lang="en-US" sz="1700" dirty="0"/>
          </a:p>
          <a:p>
            <a:pPr marL="342900" indent="-342900">
              <a:spcAft>
                <a:spcPts val="1000"/>
              </a:spcAft>
              <a:buSzPct val="100000"/>
              <a:buChar char="•"/>
            </a:pPr>
            <a:r>
              <a:rPr lang="en-US" sz="1700" dirty="0">
                <a:solidFill>
                  <a:srgbClr val="FFFFFF"/>
                </a:solidFill>
              </a:rPr>
              <a:t>No margin, demographic or satisfaction data</a:t>
            </a:r>
            <a:endParaRPr lang="en-US" sz="1700" dirty="0"/>
          </a:p>
          <a:p>
            <a:pPr marL="342900" indent="-342900">
              <a:spcAft>
                <a:spcPts val="1000"/>
              </a:spcAft>
              <a:buSzPct val="100000"/>
              <a:buChar char="•"/>
            </a:pPr>
            <a:r>
              <a:rPr lang="en-US" sz="1700" dirty="0">
                <a:solidFill>
                  <a:srgbClr val="FFFFFF"/>
                </a:solidFill>
              </a:rPr>
              <a:t>Prediction shows association, not causation</a:t>
            </a:r>
            <a:endParaRPr lang="en-US" sz="1700" dirty="0"/>
          </a:p>
        </p:txBody>
      </p:sp>
      <p:sp>
        <p:nvSpPr>
          <p:cNvPr id="8" name="Shape 6"/>
          <p:cNvSpPr/>
          <p:nvPr/>
        </p:nvSpPr>
        <p:spPr>
          <a:xfrm>
            <a:off x="640080" y="5029200"/>
            <a:ext cx="10881360" cy="1188720"/>
          </a:xfrm>
          <a:prstGeom prst="roundRect">
            <a:avLst>
              <a:gd name="adj" fmla="val 9231"/>
            </a:avLst>
          </a:prstGeom>
          <a:solidFill>
            <a:srgbClr val="2C3A7A"/>
          </a:solidFill>
          <a:ln w="12700">
            <a:solidFill>
              <a:srgbClr val="44559A"/>
            </a:solidFill>
            <a:prstDash val="solid"/>
          </a:ln>
        </p:spPr>
      </p:sp>
      <p:sp>
        <p:nvSpPr>
          <p:cNvPr id="9" name="Text 7"/>
          <p:cNvSpPr txBox="1"/>
          <p:nvPr/>
        </p:nvSpPr>
        <p:spPr>
          <a:xfrm>
            <a:off x="868680" y="5029200"/>
            <a:ext cx="10424160" cy="1188720"/>
          </a:xfrm>
          <a:prstGeom prst="rect">
            <a:avLst/>
          </a:prstGeom>
          <a:noFill/>
          <a:ln/>
        </p:spPr>
        <p:txBody>
          <a:bodyPr wrap="square" rtlCol="0" anchor="ctr"/>
          <a:lstStyle/>
          <a:p>
            <a:pPr marL="0" indent="0">
              <a:buNone/>
            </a:pPr>
            <a:r>
              <a:rPr lang="en-US" sz="1800" b="1" dirty="0">
                <a:solidFill>
                  <a:srgbClr val="F96167"/>
                </a:solidFill>
              </a:rPr>
              <a:t>Live demo: </a:t>
            </a:r>
            <a:r>
              <a:rPr lang="en-US" sz="1800" dirty="0">
                <a:solidFill>
                  <a:srgbClr val="FFFFFF"/>
                </a:solidFill>
              </a:rPr>
              <a:t>open 03_machine_learning.ipynb and walk from the time split to the model comparison.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1324</Words>
  <Application>Microsoft Office PowerPoint</Application>
  <PresentationFormat>Widescreen</PresentationFormat>
  <Paragraphs>242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2</cp:revision>
  <dcterms:created xsi:type="dcterms:W3CDTF">2026-09-28T09:40:04Z</dcterms:created>
  <dcterms:modified xsi:type="dcterms:W3CDTF">2026-09-28T11:00:25Z</dcterms:modified>
</cp:coreProperties>
</file>